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Aptos Bold" charset="1" panose="020B0004020202020204"/>
      <p:regular r:id="rId28"/>
    </p:embeddedFont>
    <p:embeddedFont>
      <p:font typeface="Aptos" charset="1" panose="020B0004020202020204"/>
      <p:regular r:id="rId29"/>
    </p:embeddedFont>
    <p:embeddedFont>
      <p:font typeface="Aptos Italics" charset="1" panose="020B0004020202090204"/>
      <p:regular r:id="rId30"/>
    </p:embeddedFont>
    <p:embeddedFont>
      <p:font typeface="Raleway Heavy" charset="1" panose="00000000000000000000"/>
      <p:regular r:id="rId31"/>
    </p:embeddedFont>
    <p:embeddedFont>
      <p:font typeface="Raleway" charset="1" panose="000000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53" y="-7153"/>
            <a:ext cx="261376" cy="10309346"/>
            <a:chOff x="0" y="0"/>
            <a:chExt cx="348501" cy="137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8488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348488">
                  <a:moveTo>
                    <a:pt x="0" y="0"/>
                  </a:moveTo>
                  <a:lnTo>
                    <a:pt x="348488" y="0"/>
                  </a:lnTo>
                  <a:lnTo>
                    <a:pt x="348488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239938" y="659587"/>
            <a:ext cx="1496377" cy="1360333"/>
            <a:chOff x="0" y="0"/>
            <a:chExt cx="1683817" cy="1530731"/>
          </a:xfrm>
        </p:grpSpPr>
        <p:sp>
          <p:nvSpPr>
            <p:cNvPr name="Freeform 5" id="5" descr="logo_uvg.png"/>
            <p:cNvSpPr/>
            <p:nvPr/>
          </p:nvSpPr>
          <p:spPr>
            <a:xfrm flipH="false" flipV="false" rot="0">
              <a:off x="0" y="0"/>
              <a:ext cx="1683766" cy="1530731"/>
            </a:xfrm>
            <a:custGeom>
              <a:avLst/>
              <a:gdLst/>
              <a:ahLst/>
              <a:cxnLst/>
              <a:rect r="r" b="b" t="t" l="l"/>
              <a:pathLst>
                <a:path h="1530731" w="1683766">
                  <a:moveTo>
                    <a:pt x="0" y="0"/>
                  </a:moveTo>
                  <a:lnTo>
                    <a:pt x="1683766" y="0"/>
                  </a:lnTo>
                  <a:lnTo>
                    <a:pt x="1683766" y="1530731"/>
                  </a:lnTo>
                  <a:lnTo>
                    <a:pt x="0" y="1530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828525" y="4401878"/>
            <a:ext cx="8907790" cy="4453895"/>
          </a:xfrm>
          <a:custGeom>
            <a:avLst/>
            <a:gdLst/>
            <a:ahLst/>
            <a:cxnLst/>
            <a:rect r="r" b="b" t="t" l="l"/>
            <a:pathLst>
              <a:path h="4453895" w="8907790">
                <a:moveTo>
                  <a:pt x="0" y="0"/>
                </a:moveTo>
                <a:lnTo>
                  <a:pt x="8907790" y="0"/>
                </a:lnTo>
                <a:lnTo>
                  <a:pt x="8907790" y="4453895"/>
                </a:lnTo>
                <a:lnTo>
                  <a:pt x="0" y="44538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26842" y="6016847"/>
            <a:ext cx="15067512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Grupo 1</a:t>
            </a:r>
          </a:p>
        </p:txBody>
      </p:sp>
      <p:grpSp>
        <p:nvGrpSpPr>
          <p:cNvPr name="Group 8" id="8"/>
          <p:cNvGrpSpPr/>
          <p:nvPr/>
        </p:nvGrpSpPr>
        <p:grpSpPr>
          <a:xfrm rot="-5400000">
            <a:off x="6281710" y="6633923"/>
            <a:ext cx="4726708" cy="114135"/>
            <a:chOff x="0" y="0"/>
            <a:chExt cx="1995716" cy="481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5678" cy="48228"/>
            </a:xfrm>
            <a:custGeom>
              <a:avLst/>
              <a:gdLst/>
              <a:ahLst/>
              <a:cxnLst/>
              <a:rect r="r" b="b" t="t" l="l"/>
              <a:pathLst>
                <a:path h="48228" w="1995678">
                  <a:moveTo>
                    <a:pt x="0" y="0"/>
                  </a:moveTo>
                  <a:lnTo>
                    <a:pt x="1995678" y="0"/>
                  </a:lnTo>
                  <a:lnTo>
                    <a:pt x="1995678" y="48228"/>
                  </a:lnTo>
                  <a:lnTo>
                    <a:pt x="0" y="48228"/>
                  </a:lnTo>
                  <a:close/>
                </a:path>
              </a:pathLst>
            </a:custGeom>
            <a:solidFill>
              <a:srgbClr val="F2B531"/>
            </a:solidFill>
            <a:ln w="14299" cap="sq">
              <a:solidFill>
                <a:srgbClr val="F2B531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-10800000">
            <a:off x="8702132" y="8913260"/>
            <a:ext cx="8639369" cy="146020"/>
            <a:chOff x="0" y="0"/>
            <a:chExt cx="1995716" cy="337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95678" cy="33769"/>
            </a:xfrm>
            <a:custGeom>
              <a:avLst/>
              <a:gdLst/>
              <a:ahLst/>
              <a:cxnLst/>
              <a:rect r="r" b="b" t="t" l="l"/>
              <a:pathLst>
                <a:path h="33769" w="1995678">
                  <a:moveTo>
                    <a:pt x="0" y="0"/>
                  </a:moveTo>
                  <a:lnTo>
                    <a:pt x="1995678" y="0"/>
                  </a:lnTo>
                  <a:lnTo>
                    <a:pt x="1995678" y="33769"/>
                  </a:lnTo>
                  <a:lnTo>
                    <a:pt x="0" y="33769"/>
                  </a:lnTo>
                  <a:close/>
                </a:path>
              </a:pathLst>
            </a:custGeom>
            <a:solidFill>
              <a:srgbClr val="F2B531"/>
            </a:solidFill>
            <a:ln w="14299" cap="sq">
              <a:solidFill>
                <a:srgbClr val="F2B531"/>
              </a:solidFill>
              <a:prstDash val="solid"/>
              <a:miter/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2608316" y="4151424"/>
            <a:ext cx="4258094" cy="5270996"/>
          </a:xfrm>
          <a:custGeom>
            <a:avLst/>
            <a:gdLst/>
            <a:ahLst/>
            <a:cxnLst/>
            <a:rect r="r" b="b" t="t" l="l"/>
            <a:pathLst>
              <a:path h="5270996" w="4258094">
                <a:moveTo>
                  <a:pt x="0" y="0"/>
                </a:moveTo>
                <a:lnTo>
                  <a:pt x="4258094" y="0"/>
                </a:lnTo>
                <a:lnTo>
                  <a:pt x="4258094" y="5270996"/>
                </a:lnTo>
                <a:lnTo>
                  <a:pt x="0" y="52709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77" r="-3223" b="-2777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54222" y="952500"/>
            <a:ext cx="10114469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3"/>
              </a:lnSpc>
            </a:pPr>
            <a:r>
              <a:rPr lang="en-US" sz="615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Charting Student Math Misunderstandings - Kaggle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3628" y="659587"/>
            <a:ext cx="11484835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>
                <a:solidFill>
                  <a:srgbClr val="F2B531"/>
                </a:solidFill>
                <a:latin typeface="Aptos Bold"/>
                <a:ea typeface="Aptos Bold"/>
                <a:cs typeface="Aptos Bold"/>
                <a:sym typeface="Aptos Bold"/>
              </a:rPr>
              <a:t>PROYECTO 2 · DATA SCIENCE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69410" y="9699812"/>
            <a:ext cx="572091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1BED7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0726" y="3027474"/>
            <a:ext cx="8813274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Procesamiento del lenguaje natural para comprender el razonamiento matemático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18036" y="4687343"/>
            <a:ext cx="2638654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2"/>
              </a:lnSpc>
            </a:pPr>
            <a:r>
              <a:rPr lang="en-US" sz="205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 Realizado por:</a:t>
            </a:r>
          </a:p>
          <a:p>
            <a:pPr algn="l">
              <a:lnSpc>
                <a:spcPts val="2462"/>
              </a:lnSpc>
            </a:pPr>
            <a:r>
              <a:rPr lang="en-US" sz="205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· </a:t>
            </a:r>
            <a:r>
              <a:rPr lang="en-US" sz="205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Jorge Gabriel Palacios Sales  </a:t>
            </a:r>
          </a:p>
          <a:p>
            <a:pPr algn="l">
              <a:lnSpc>
                <a:spcPts val="2462"/>
              </a:lnSpc>
            </a:pPr>
            <a:r>
              <a:rPr lang="en-US" sz="205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·  Pablo Daniel Barillas Moreno  </a:t>
            </a:r>
          </a:p>
          <a:p>
            <a:pPr algn="l">
              <a:lnSpc>
                <a:spcPts val="2462"/>
              </a:lnSpc>
            </a:pPr>
            <a:r>
              <a:rPr lang="en-US" sz="205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·  Roberto Emiliano Otoniel Camposeco Torres  </a:t>
            </a:r>
          </a:p>
          <a:p>
            <a:pPr algn="l">
              <a:lnSpc>
                <a:spcPts val="2462"/>
              </a:lnSpc>
            </a:pPr>
            <a:r>
              <a:rPr lang="en-US" sz="205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·  Abby Sofia Donis Agreda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3878" y="9709337"/>
            <a:ext cx="828697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CC3084 · Sección 10 · Universidad del Valle de Guatemala ·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9614" y="-75786"/>
            <a:ext cx="18316137" cy="10309346"/>
            <a:chOff x="0" y="0"/>
            <a:chExt cx="24421516" cy="137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1464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24421464">
                  <a:moveTo>
                    <a:pt x="0" y="0"/>
                  </a:moveTo>
                  <a:lnTo>
                    <a:pt x="24421464" y="0"/>
                  </a:lnTo>
                  <a:lnTo>
                    <a:pt x="24421464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7153" y="-7153"/>
            <a:ext cx="261376" cy="10309346"/>
            <a:chOff x="0" y="0"/>
            <a:chExt cx="348501" cy="13745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488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348488">
                  <a:moveTo>
                    <a:pt x="0" y="0"/>
                  </a:moveTo>
                  <a:lnTo>
                    <a:pt x="348488" y="0"/>
                  </a:lnTo>
                  <a:lnTo>
                    <a:pt x="348488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617487" y="612923"/>
            <a:ext cx="614168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Recordando el Data-set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69410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72508" y="9644901"/>
            <a:ext cx="8423777" cy="30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Kaggle (2025); Rittle-Johnson et al. (2025)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9212" y="1512283"/>
            <a:ext cx="13101285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0"/>
              </a:lnSpc>
              <a:spcBef>
                <a:spcPct val="0"/>
              </a:spcBef>
            </a:pPr>
            <a:r>
              <a:rPr lang="en-US" b="true" sz="3208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El data set es de una competencia en Kaggle , donde se desarrolan  NLP  impulsado por ML (Aprendizaje Automático) para predecir con precisión los posibles conceptos matemáticos erróneos de los estudiantes basándose en sus explicaciones en respuestas abiertas.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33700" y="4998936"/>
            <a:ext cx="6636786" cy="4071972"/>
          </a:xfrm>
          <a:custGeom>
            <a:avLst/>
            <a:gdLst/>
            <a:ahLst/>
            <a:cxnLst/>
            <a:rect r="r" b="b" t="t" l="l"/>
            <a:pathLst>
              <a:path h="4071972" w="6636786">
                <a:moveTo>
                  <a:pt x="0" y="0"/>
                </a:moveTo>
                <a:lnTo>
                  <a:pt x="6636786" y="0"/>
                </a:lnTo>
                <a:lnTo>
                  <a:pt x="6636786" y="4071972"/>
                </a:lnTo>
                <a:lnTo>
                  <a:pt x="0" y="40719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9614" y="-75786"/>
            <a:ext cx="18316137" cy="10309346"/>
            <a:chOff x="0" y="0"/>
            <a:chExt cx="24421516" cy="137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1464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24421464">
                  <a:moveTo>
                    <a:pt x="0" y="0"/>
                  </a:moveTo>
                  <a:lnTo>
                    <a:pt x="24421464" y="0"/>
                  </a:lnTo>
                  <a:lnTo>
                    <a:pt x="24421464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7153" y="-7153"/>
            <a:ext cx="261376" cy="10309346"/>
            <a:chOff x="0" y="0"/>
            <a:chExt cx="348501" cy="13745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488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348488">
                  <a:moveTo>
                    <a:pt x="0" y="0"/>
                  </a:moveTo>
                  <a:lnTo>
                    <a:pt x="348488" y="0"/>
                  </a:lnTo>
                  <a:lnTo>
                    <a:pt x="348488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010218" y="4419701"/>
            <a:ext cx="5774179" cy="5234624"/>
          </a:xfrm>
          <a:custGeom>
            <a:avLst/>
            <a:gdLst/>
            <a:ahLst/>
            <a:cxnLst/>
            <a:rect r="r" b="b" t="t" l="l"/>
            <a:pathLst>
              <a:path h="5234624" w="5774179">
                <a:moveTo>
                  <a:pt x="0" y="0"/>
                </a:moveTo>
                <a:lnTo>
                  <a:pt x="5774179" y="0"/>
                </a:lnTo>
                <a:lnTo>
                  <a:pt x="5774179" y="5234624"/>
                </a:lnTo>
                <a:lnTo>
                  <a:pt x="0" y="5234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17487" y="1038225"/>
            <a:ext cx="614168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Pregunta Central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69410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72508" y="9644901"/>
            <a:ext cx="8423777" cy="30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Kaggle (2025); Rittle-Johnson et al. (2025)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46665" y="2309863"/>
            <a:ext cx="13101285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0"/>
              </a:lnSpc>
              <a:spcBef>
                <a:spcPct val="0"/>
              </a:spcBef>
            </a:pPr>
            <a:r>
              <a:rPr lang="en-US" b="true" sz="3208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¿qué patrones del texto, de su estructura y del contexto permiten distinguir si la respuesta es correcta, qué tan bueno es el razonamiento y qué concepción errónea hay detrás?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53" y="-7153"/>
            <a:ext cx="18316137" cy="10309346"/>
            <a:chOff x="0" y="0"/>
            <a:chExt cx="24421516" cy="137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1464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24421464">
                  <a:moveTo>
                    <a:pt x="0" y="0"/>
                  </a:moveTo>
                  <a:lnTo>
                    <a:pt x="24421464" y="0"/>
                  </a:lnTo>
                  <a:lnTo>
                    <a:pt x="24421464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7153" y="-7153"/>
            <a:ext cx="261376" cy="10309346"/>
            <a:chOff x="0" y="0"/>
            <a:chExt cx="348501" cy="13745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488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348488">
                  <a:moveTo>
                    <a:pt x="0" y="0"/>
                  </a:moveTo>
                  <a:lnTo>
                    <a:pt x="348488" y="0"/>
                  </a:lnTo>
                  <a:lnTo>
                    <a:pt x="348488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843905" y="733425"/>
            <a:ext cx="1615192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Del error a la explicacion escrita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69410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43905" y="2381298"/>
            <a:ext cx="5161826" cy="4203981"/>
            <a:chOff x="0" y="0"/>
            <a:chExt cx="6882435" cy="56053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82434" cy="5605278"/>
            </a:xfrm>
            <a:custGeom>
              <a:avLst/>
              <a:gdLst/>
              <a:ahLst/>
              <a:cxnLst/>
              <a:rect r="r" b="b" t="t" l="l"/>
              <a:pathLst>
                <a:path h="5605278" w="6882434">
                  <a:moveTo>
                    <a:pt x="0" y="886679"/>
                  </a:moveTo>
                  <a:cubicBezTo>
                    <a:pt x="0" y="397027"/>
                    <a:pt x="513622" y="0"/>
                    <a:pt x="1147072" y="0"/>
                  </a:cubicBezTo>
                  <a:lnTo>
                    <a:pt x="5735362" y="0"/>
                  </a:lnTo>
                  <a:cubicBezTo>
                    <a:pt x="6368941" y="0"/>
                    <a:pt x="6882434" y="397027"/>
                    <a:pt x="6882434" y="886679"/>
                  </a:cubicBezTo>
                  <a:lnTo>
                    <a:pt x="6882434" y="4718599"/>
                  </a:lnTo>
                  <a:cubicBezTo>
                    <a:pt x="6882434" y="5208351"/>
                    <a:pt x="6368813" y="5605278"/>
                    <a:pt x="5735362" y="5605278"/>
                  </a:cubicBezTo>
                  <a:lnTo>
                    <a:pt x="1147072" y="5605278"/>
                  </a:lnTo>
                  <a:cubicBezTo>
                    <a:pt x="513494" y="5605278"/>
                    <a:pt x="0" y="5208251"/>
                    <a:pt x="0" y="4718599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313117" y="2667524"/>
            <a:ext cx="431948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Cont</a:t>
            </a: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exto Educativo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3117" y="3285230"/>
            <a:ext cx="4319483" cy="3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62"/>
              </a:lnSpc>
            </a:pPr>
            <a:r>
              <a:rPr lang="en-US" sz="255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Los errores reflejan reglas aplicadas fuera de contexto o generalizacoines que fueron hechas en exceso.</a:t>
            </a:r>
          </a:p>
          <a:p>
            <a:pPr algn="just">
              <a:lnSpc>
                <a:spcPts val="3062"/>
              </a:lnSpc>
            </a:pPr>
          </a:p>
          <a:p>
            <a:pPr algn="just">
              <a:lnSpc>
                <a:spcPts val="3062"/>
              </a:lnSpc>
            </a:pPr>
            <a:r>
              <a:rPr lang="en-US" sz="255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La explicacion distingue un descuido de un error conceptual persistente 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81680" y="2381298"/>
            <a:ext cx="5120640" cy="4203981"/>
            <a:chOff x="0" y="0"/>
            <a:chExt cx="6827520" cy="56053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27520" cy="5605278"/>
            </a:xfrm>
            <a:custGeom>
              <a:avLst/>
              <a:gdLst/>
              <a:ahLst/>
              <a:cxnLst/>
              <a:rect r="r" b="b" t="t" l="l"/>
              <a:pathLst>
                <a:path h="5605278" w="6827520">
                  <a:moveTo>
                    <a:pt x="0" y="886679"/>
                  </a:moveTo>
                  <a:cubicBezTo>
                    <a:pt x="0" y="397027"/>
                    <a:pt x="509524" y="0"/>
                    <a:pt x="1137920" y="0"/>
                  </a:cubicBezTo>
                  <a:lnTo>
                    <a:pt x="5689600" y="0"/>
                  </a:lnTo>
                  <a:cubicBezTo>
                    <a:pt x="6318123" y="0"/>
                    <a:pt x="6827520" y="397027"/>
                    <a:pt x="6827520" y="886679"/>
                  </a:cubicBezTo>
                  <a:lnTo>
                    <a:pt x="6827520" y="4718599"/>
                  </a:lnTo>
                  <a:cubicBezTo>
                    <a:pt x="6827520" y="5208351"/>
                    <a:pt x="6317996" y="5605278"/>
                    <a:pt x="5689600" y="5605278"/>
                  </a:cubicBezTo>
                  <a:lnTo>
                    <a:pt x="1137920" y="5605278"/>
                  </a:lnTo>
                  <a:cubicBezTo>
                    <a:pt x="509397" y="5605278"/>
                    <a:pt x="0" y="5208251"/>
                    <a:pt x="0" y="4718599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7009705" y="2667524"/>
            <a:ext cx="431948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Reto MAP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09705" y="3285230"/>
            <a:ext cx="4319483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62"/>
              </a:lnSpc>
            </a:pPr>
            <a:r>
              <a:rPr lang="en-US" sz="255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Predecir la categoría de la respuesta y el error conceptual que se le asocia en base de una pregunta de opcion multiple y de explicacion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278268" y="2381298"/>
            <a:ext cx="5120640" cy="3189932"/>
            <a:chOff x="0" y="0"/>
            <a:chExt cx="6827520" cy="42532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4253220"/>
            </a:xfrm>
            <a:custGeom>
              <a:avLst/>
              <a:gdLst/>
              <a:ahLst/>
              <a:cxnLst/>
              <a:rect r="r" b="b" t="t" l="l"/>
              <a:pathLst>
                <a:path h="4253220" w="6827520">
                  <a:moveTo>
                    <a:pt x="0" y="672802"/>
                  </a:moveTo>
                  <a:cubicBezTo>
                    <a:pt x="0" y="301259"/>
                    <a:pt x="509524" y="0"/>
                    <a:pt x="1137920" y="0"/>
                  </a:cubicBezTo>
                  <a:lnTo>
                    <a:pt x="5689600" y="0"/>
                  </a:lnTo>
                  <a:cubicBezTo>
                    <a:pt x="6318123" y="0"/>
                    <a:pt x="6827520" y="301259"/>
                    <a:pt x="6827520" y="672802"/>
                  </a:cubicBezTo>
                  <a:lnTo>
                    <a:pt x="6827520" y="3580418"/>
                  </a:lnTo>
                  <a:cubicBezTo>
                    <a:pt x="6827520" y="3952036"/>
                    <a:pt x="6317996" y="4253220"/>
                    <a:pt x="5689600" y="4253220"/>
                  </a:cubicBezTo>
                  <a:lnTo>
                    <a:pt x="1137920" y="4253220"/>
                  </a:lnTo>
                  <a:cubicBezTo>
                    <a:pt x="509397" y="4253220"/>
                    <a:pt x="0" y="3951961"/>
                    <a:pt x="0" y="3580418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706302" y="2667524"/>
            <a:ext cx="431948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Formato de salida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06302" y="3285230"/>
            <a:ext cx="4319483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62"/>
              </a:lnSpc>
            </a:pPr>
            <a:r>
              <a:rPr lang="en-US" sz="255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Una lista ordenada de hasta 3 pares ‘Category: Misconception’ que se  evalua con MAP@3.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85092" y="8119072"/>
            <a:ext cx="16513816" cy="865356"/>
            <a:chOff x="0" y="0"/>
            <a:chExt cx="22018422" cy="11538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018371" cy="1153795"/>
            </a:xfrm>
            <a:custGeom>
              <a:avLst/>
              <a:gdLst/>
              <a:ahLst/>
              <a:cxnLst/>
              <a:rect r="r" b="b" t="t" l="l"/>
              <a:pathLst>
                <a:path h="1153795" w="22018371">
                  <a:moveTo>
                    <a:pt x="0" y="192278"/>
                  </a:moveTo>
                  <a:cubicBezTo>
                    <a:pt x="0" y="86106"/>
                    <a:pt x="86106" y="0"/>
                    <a:pt x="192278" y="0"/>
                  </a:cubicBezTo>
                  <a:lnTo>
                    <a:pt x="21826093" y="0"/>
                  </a:lnTo>
                  <a:cubicBezTo>
                    <a:pt x="21932264" y="0"/>
                    <a:pt x="22018371" y="86106"/>
                    <a:pt x="22018371" y="192278"/>
                  </a:cubicBezTo>
                  <a:lnTo>
                    <a:pt x="22018371" y="961517"/>
                  </a:lnTo>
                  <a:cubicBezTo>
                    <a:pt x="22018371" y="1067689"/>
                    <a:pt x="21932264" y="1153795"/>
                    <a:pt x="21826093" y="1153795"/>
                  </a:cubicBezTo>
                  <a:lnTo>
                    <a:pt x="192278" y="1153795"/>
                  </a:lnTo>
                  <a:cubicBezTo>
                    <a:pt x="86106" y="1153795"/>
                    <a:pt x="0" y="1067689"/>
                    <a:pt x="0" y="961517"/>
                  </a:cubicBezTo>
                  <a:close/>
                </a:path>
              </a:pathLst>
            </a:custGeom>
            <a:solidFill>
              <a:srgbClr val="081B34"/>
            </a:solidFill>
            <a:ln w="14299" cap="sq">
              <a:solidFill>
                <a:srgbClr val="081B34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896982" y="8382048"/>
            <a:ext cx="144763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El problema combina clasificación multiclase, predicción jerárquica, ranking y procesamiento de lenguaje matemático.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72508" y="9644901"/>
            <a:ext cx="8423777" cy="30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Kaggle (2025); Rittle-Johnson et al. (2025)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53" y="-7153"/>
            <a:ext cx="261376" cy="10309346"/>
            <a:chOff x="0" y="0"/>
            <a:chExt cx="348501" cy="137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8488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348488">
                  <a:moveTo>
                    <a:pt x="0" y="0"/>
                  </a:moveTo>
                  <a:lnTo>
                    <a:pt x="348488" y="0"/>
                  </a:lnTo>
                  <a:lnTo>
                    <a:pt x="348488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95855" y="2188638"/>
            <a:ext cx="7989761" cy="3067492"/>
            <a:chOff x="0" y="0"/>
            <a:chExt cx="2104299" cy="8078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4299" cy="807899"/>
            </a:xfrm>
            <a:custGeom>
              <a:avLst/>
              <a:gdLst/>
              <a:ahLst/>
              <a:cxnLst/>
              <a:rect r="r" b="b" t="t" l="l"/>
              <a:pathLst>
                <a:path h="807899" w="2104299">
                  <a:moveTo>
                    <a:pt x="49418" y="0"/>
                  </a:moveTo>
                  <a:lnTo>
                    <a:pt x="2054881" y="0"/>
                  </a:lnTo>
                  <a:cubicBezTo>
                    <a:pt x="2067988" y="0"/>
                    <a:pt x="2080557" y="5207"/>
                    <a:pt x="2089825" y="14474"/>
                  </a:cubicBezTo>
                  <a:cubicBezTo>
                    <a:pt x="2099093" y="23742"/>
                    <a:pt x="2104299" y="36312"/>
                    <a:pt x="2104299" y="49418"/>
                  </a:cubicBezTo>
                  <a:lnTo>
                    <a:pt x="2104299" y="758481"/>
                  </a:lnTo>
                  <a:cubicBezTo>
                    <a:pt x="2104299" y="785774"/>
                    <a:pt x="2082174" y="807899"/>
                    <a:pt x="2054881" y="807899"/>
                  </a:cubicBezTo>
                  <a:lnTo>
                    <a:pt x="49418" y="807899"/>
                  </a:lnTo>
                  <a:cubicBezTo>
                    <a:pt x="22125" y="807899"/>
                    <a:pt x="0" y="785774"/>
                    <a:pt x="0" y="758481"/>
                  </a:cubicBezTo>
                  <a:lnTo>
                    <a:pt x="0" y="49418"/>
                  </a:lnTo>
                  <a:cubicBezTo>
                    <a:pt x="0" y="22125"/>
                    <a:pt x="22125" y="0"/>
                    <a:pt x="49418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04299" cy="817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829789" y="2188638"/>
            <a:ext cx="7918523" cy="2976364"/>
            <a:chOff x="0" y="0"/>
            <a:chExt cx="2085537" cy="7838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5537" cy="783898"/>
            </a:xfrm>
            <a:custGeom>
              <a:avLst/>
              <a:gdLst/>
              <a:ahLst/>
              <a:cxnLst/>
              <a:rect r="r" b="b" t="t" l="l"/>
              <a:pathLst>
                <a:path h="783898" w="2085537">
                  <a:moveTo>
                    <a:pt x="49863" y="0"/>
                  </a:moveTo>
                  <a:lnTo>
                    <a:pt x="2035674" y="0"/>
                  </a:lnTo>
                  <a:cubicBezTo>
                    <a:pt x="2063213" y="0"/>
                    <a:pt x="2085537" y="22324"/>
                    <a:pt x="2085537" y="49863"/>
                  </a:cubicBezTo>
                  <a:lnTo>
                    <a:pt x="2085537" y="734036"/>
                  </a:lnTo>
                  <a:cubicBezTo>
                    <a:pt x="2085537" y="761574"/>
                    <a:pt x="2063213" y="783898"/>
                    <a:pt x="2035674" y="783898"/>
                  </a:cubicBezTo>
                  <a:lnTo>
                    <a:pt x="49863" y="783898"/>
                  </a:lnTo>
                  <a:cubicBezTo>
                    <a:pt x="22324" y="783898"/>
                    <a:pt x="0" y="761574"/>
                    <a:pt x="0" y="734036"/>
                  </a:cubicBezTo>
                  <a:lnTo>
                    <a:pt x="0" y="49863"/>
                  </a:lnTo>
                  <a:cubicBezTo>
                    <a:pt x="0" y="22324"/>
                    <a:pt x="22324" y="0"/>
                    <a:pt x="49863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85537" cy="793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1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082640" y="6298945"/>
            <a:ext cx="8122720" cy="5420097"/>
          </a:xfrm>
          <a:custGeom>
            <a:avLst/>
            <a:gdLst/>
            <a:ahLst/>
            <a:cxnLst/>
            <a:rect r="r" b="b" t="t" l="l"/>
            <a:pathLst>
              <a:path h="5420097" w="8122720">
                <a:moveTo>
                  <a:pt x="0" y="0"/>
                </a:moveTo>
                <a:lnTo>
                  <a:pt x="8122720" y="0"/>
                </a:lnTo>
                <a:lnTo>
                  <a:pt x="8122720" y="5420096"/>
                </a:lnTo>
                <a:lnTo>
                  <a:pt x="0" y="54200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42499" y="420548"/>
            <a:ext cx="1148483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1"/>
              </a:lnSpc>
            </a:pPr>
            <a:r>
              <a:rPr lang="en-US" sz="1701" b="true">
                <a:solidFill>
                  <a:srgbClr val="134A9A"/>
                </a:solidFill>
                <a:latin typeface="Aptos Bold"/>
                <a:ea typeface="Aptos Bold"/>
                <a:cs typeface="Aptos Bold"/>
                <a:sym typeface="Aptos Bold"/>
              </a:rPr>
              <a:t>OBJETIVOS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2499" y="896779"/>
            <a:ext cx="1615192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3"/>
              </a:lnSpc>
            </a:pPr>
            <a:r>
              <a:rPr lang="en-US" sz="4753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Problema a resolver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769410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1868" y="2420209"/>
            <a:ext cx="433320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Exigencias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3006" y="2959298"/>
            <a:ext cx="7725283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0976" indent="-275488" lvl="1">
              <a:lnSpc>
                <a:spcPts val="3062"/>
              </a:lnSpc>
              <a:buAutoNum type="arabicPeriod" startAt="1"/>
            </a:pPr>
            <a:r>
              <a:rPr lang="en-US" sz="255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Entender lenguaje informal y notacion matematica.</a:t>
            </a:r>
          </a:p>
          <a:p>
            <a:pPr algn="just" marL="550976" indent="-275488" lvl="1">
              <a:lnSpc>
                <a:spcPts val="3062"/>
              </a:lnSpc>
              <a:buAutoNum type="arabicPeriod" startAt="1"/>
            </a:pPr>
            <a:r>
              <a:rPr lang="en-US" sz="255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Condicionar a pregunta y opcion</a:t>
            </a:r>
          </a:p>
          <a:p>
            <a:pPr algn="just" marL="550976" indent="-275488" lvl="1">
              <a:lnSpc>
                <a:spcPts val="3062"/>
              </a:lnSpc>
              <a:buAutoNum type="arabicPeriod" startAt="1"/>
            </a:pPr>
            <a:r>
              <a:rPr lang="en-US" sz="255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Aprender clases desbalanceadas</a:t>
            </a:r>
          </a:p>
          <a:p>
            <a:pPr algn="just" marL="550976" indent="-275488" lvl="1">
              <a:lnSpc>
                <a:spcPts val="3062"/>
              </a:lnSpc>
              <a:buAutoNum type="arabicPeriod" startAt="1"/>
            </a:pPr>
            <a:r>
              <a:rPr lang="en-US" sz="255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Producir un ranking</a:t>
            </a:r>
          </a:p>
          <a:p>
            <a:pPr algn="just" marL="550976" indent="-275488" lvl="1">
              <a:lnSpc>
                <a:spcPts val="3062"/>
              </a:lnSpc>
              <a:buAutoNum type="arabicPeriod" startAt="1"/>
            </a:pPr>
            <a:r>
              <a:rPr lang="en-US" sz="255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Generalizar sin memorizar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54393" y="2384170"/>
            <a:ext cx="7469314" cy="311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1"/>
              </a:lnSpc>
            </a:pPr>
            <a:r>
              <a:rPr lang="en-US" sz="2567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Revisar algoritmos de aprendizaje automatico para la calificacion y deteccion de errores conceptuales y seleccionar una arquitectura preliminar.</a:t>
            </a:r>
          </a:p>
          <a:p>
            <a:pPr algn="just">
              <a:lnSpc>
                <a:spcPts val="3081"/>
              </a:lnSpc>
            </a:pPr>
            <a:r>
              <a:rPr lang="en-US" sz="2567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</a:p>
          <a:p>
            <a:pPr algn="just">
              <a:lnSpc>
                <a:spcPts val="3081"/>
              </a:lnSpc>
            </a:pPr>
            <a:r>
              <a:rPr lang="en-US" sz="2567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Un clasificador prioriza casos, no reemplaza el juicio del docente</a:t>
            </a:r>
          </a:p>
          <a:p>
            <a:pPr algn="just">
              <a:lnSpc>
                <a:spcPts val="3081"/>
              </a:lnSpc>
            </a:pPr>
          </a:p>
          <a:p>
            <a:pPr algn="just">
              <a:lnSpc>
                <a:spcPts val="3081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53" y="-7153"/>
            <a:ext cx="18316137" cy="10309346"/>
            <a:chOff x="0" y="0"/>
            <a:chExt cx="24421516" cy="137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1464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24421464">
                  <a:moveTo>
                    <a:pt x="0" y="0"/>
                  </a:moveTo>
                  <a:lnTo>
                    <a:pt x="24421464" y="0"/>
                  </a:lnTo>
                  <a:lnTo>
                    <a:pt x="24421464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7153" y="-7153"/>
            <a:ext cx="261376" cy="10309346"/>
            <a:chOff x="0" y="0"/>
            <a:chExt cx="348501" cy="13745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488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348488">
                  <a:moveTo>
                    <a:pt x="0" y="0"/>
                  </a:moveTo>
                  <a:lnTo>
                    <a:pt x="348488" y="0"/>
                  </a:lnTo>
                  <a:lnTo>
                    <a:pt x="348488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42499" y="430073"/>
            <a:ext cx="11484835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134A9A"/>
                </a:solidFill>
                <a:latin typeface="Aptos Bold"/>
                <a:ea typeface="Aptos Bold"/>
                <a:cs typeface="Aptos Bold"/>
                <a:sym typeface="Aptos Bold"/>
              </a:rPr>
              <a:t>OBJETIVOS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2499" y="906304"/>
            <a:ext cx="1615192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Objetivos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43905" y="1873415"/>
            <a:ext cx="1496787" cy="82934"/>
            <a:chOff x="0" y="0"/>
            <a:chExt cx="1995716" cy="1105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5678" cy="110617"/>
            </a:xfrm>
            <a:custGeom>
              <a:avLst/>
              <a:gdLst/>
              <a:ahLst/>
              <a:cxnLst/>
              <a:rect r="r" b="b" t="t" l="l"/>
              <a:pathLst>
                <a:path h="110617" w="1995678">
                  <a:moveTo>
                    <a:pt x="0" y="0"/>
                  </a:moveTo>
                  <a:lnTo>
                    <a:pt x="1995678" y="0"/>
                  </a:lnTo>
                  <a:lnTo>
                    <a:pt x="1995678" y="110617"/>
                  </a:lnTo>
                  <a:lnTo>
                    <a:pt x="0" y="110617"/>
                  </a:lnTo>
                  <a:close/>
                </a:path>
              </a:pathLst>
            </a:custGeom>
            <a:solidFill>
              <a:srgbClr val="F2B531"/>
            </a:solidFill>
            <a:ln w="14299" cap="sq">
              <a:solidFill>
                <a:srgbClr val="F2B531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6769410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26268" y="2326396"/>
            <a:ext cx="16486365" cy="1634052"/>
            <a:chOff x="0" y="0"/>
            <a:chExt cx="21981820" cy="21787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81795" cy="2178685"/>
            </a:xfrm>
            <a:custGeom>
              <a:avLst/>
              <a:gdLst/>
              <a:ahLst/>
              <a:cxnLst/>
              <a:rect r="r" b="b" t="t" l="l"/>
              <a:pathLst>
                <a:path h="2178685" w="21981795">
                  <a:moveTo>
                    <a:pt x="0" y="363093"/>
                  </a:moveTo>
                  <a:cubicBezTo>
                    <a:pt x="0" y="162560"/>
                    <a:pt x="162560" y="0"/>
                    <a:pt x="363093" y="0"/>
                  </a:cubicBezTo>
                  <a:lnTo>
                    <a:pt x="21618702" y="0"/>
                  </a:lnTo>
                  <a:cubicBezTo>
                    <a:pt x="21819236" y="0"/>
                    <a:pt x="21981795" y="162560"/>
                    <a:pt x="21981795" y="363093"/>
                  </a:cubicBezTo>
                  <a:lnTo>
                    <a:pt x="21981795" y="1815592"/>
                  </a:lnTo>
                  <a:cubicBezTo>
                    <a:pt x="21981795" y="2016125"/>
                    <a:pt x="21819236" y="2178685"/>
                    <a:pt x="21618702" y="2178685"/>
                  </a:cubicBezTo>
                  <a:lnTo>
                    <a:pt x="363093" y="2178685"/>
                  </a:lnTo>
                  <a:cubicBezTo>
                    <a:pt x="162560" y="2178685"/>
                    <a:pt x="0" y="2016125"/>
                    <a:pt x="0" y="1815592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26268" y="2326396"/>
            <a:ext cx="110385" cy="1634052"/>
            <a:chOff x="0" y="0"/>
            <a:chExt cx="147180" cy="21787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7193" cy="2178685"/>
            </a:xfrm>
            <a:custGeom>
              <a:avLst/>
              <a:gdLst/>
              <a:ahLst/>
              <a:cxnLst/>
              <a:rect r="r" b="b" t="t" l="l"/>
              <a:pathLst>
                <a:path h="2178685" w="147193">
                  <a:moveTo>
                    <a:pt x="0" y="24511"/>
                  </a:moveTo>
                  <a:cubicBezTo>
                    <a:pt x="0" y="10922"/>
                    <a:pt x="10922" y="0"/>
                    <a:pt x="24511" y="0"/>
                  </a:cubicBezTo>
                  <a:lnTo>
                    <a:pt x="122682" y="0"/>
                  </a:lnTo>
                  <a:cubicBezTo>
                    <a:pt x="136271" y="0"/>
                    <a:pt x="147193" y="10922"/>
                    <a:pt x="147193" y="24511"/>
                  </a:cubicBezTo>
                  <a:lnTo>
                    <a:pt x="147193" y="2154174"/>
                  </a:lnTo>
                  <a:cubicBezTo>
                    <a:pt x="147193" y="2167763"/>
                    <a:pt x="136271" y="2178685"/>
                    <a:pt x="122682" y="2178685"/>
                  </a:cubicBezTo>
                  <a:lnTo>
                    <a:pt x="24511" y="2178685"/>
                  </a:lnTo>
                  <a:cubicBezTo>
                    <a:pt x="10922" y="2178685"/>
                    <a:pt x="0" y="2167763"/>
                    <a:pt x="0" y="2154174"/>
                  </a:cubicBezTo>
                  <a:close/>
                </a:path>
              </a:pathLst>
            </a:custGeom>
            <a:solidFill>
              <a:srgbClr val="F2B531"/>
            </a:solidFill>
            <a:ln w="14299" cap="sq">
              <a:solidFill>
                <a:srgbClr val="F2B531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354303" y="2612622"/>
            <a:ext cx="1568521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Objetivo general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3365" y="3039713"/>
            <a:ext cx="16037757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62"/>
              </a:lnSpc>
            </a:pPr>
            <a:r>
              <a:rPr lang="en-US" sz="255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Revisar algoritmos de aprendizaje automático aplicados a calificaciones, clasificación de respuestas cortas y detección de errores conceptuales, para seleccionar una arquitectura preliminar adecuada para el reto.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6268" y="4357945"/>
            <a:ext cx="5134366" cy="4179913"/>
            <a:chOff x="0" y="0"/>
            <a:chExt cx="6845821" cy="557321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45935" cy="5573294"/>
            </a:xfrm>
            <a:custGeom>
              <a:avLst/>
              <a:gdLst/>
              <a:ahLst/>
              <a:cxnLst/>
              <a:rect r="r" b="b" t="t" l="l"/>
              <a:pathLst>
                <a:path h="5573294" w="6845935">
                  <a:moveTo>
                    <a:pt x="0" y="928950"/>
                  </a:moveTo>
                  <a:cubicBezTo>
                    <a:pt x="0" y="415940"/>
                    <a:pt x="393446" y="0"/>
                    <a:pt x="878713" y="0"/>
                  </a:cubicBezTo>
                  <a:lnTo>
                    <a:pt x="5967222" y="0"/>
                  </a:lnTo>
                  <a:cubicBezTo>
                    <a:pt x="6452489" y="0"/>
                    <a:pt x="6845935" y="415940"/>
                    <a:pt x="6845935" y="928950"/>
                  </a:cubicBezTo>
                  <a:lnTo>
                    <a:pt x="6845935" y="4644348"/>
                  </a:lnTo>
                  <a:cubicBezTo>
                    <a:pt x="6845935" y="5157358"/>
                    <a:pt x="6452489" y="5573294"/>
                    <a:pt x="5967222" y="5573294"/>
                  </a:cubicBezTo>
                  <a:lnTo>
                    <a:pt x="878713" y="5573294"/>
                  </a:lnTo>
                  <a:cubicBezTo>
                    <a:pt x="393446" y="5573164"/>
                    <a:pt x="0" y="5157358"/>
                    <a:pt x="0" y="4644348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26268" y="4357945"/>
            <a:ext cx="110385" cy="3953866"/>
            <a:chOff x="0" y="0"/>
            <a:chExt cx="147180" cy="527182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7193" cy="5271770"/>
            </a:xfrm>
            <a:custGeom>
              <a:avLst/>
              <a:gdLst/>
              <a:ahLst/>
              <a:cxnLst/>
              <a:rect r="r" b="b" t="t" l="l"/>
              <a:pathLst>
                <a:path h="5271770" w="147193">
                  <a:moveTo>
                    <a:pt x="0" y="24511"/>
                  </a:moveTo>
                  <a:cubicBezTo>
                    <a:pt x="0" y="10922"/>
                    <a:pt x="10922" y="0"/>
                    <a:pt x="24511" y="0"/>
                  </a:cubicBezTo>
                  <a:lnTo>
                    <a:pt x="122682" y="0"/>
                  </a:lnTo>
                  <a:cubicBezTo>
                    <a:pt x="136271" y="0"/>
                    <a:pt x="147193" y="10922"/>
                    <a:pt x="147193" y="24511"/>
                  </a:cubicBezTo>
                  <a:lnTo>
                    <a:pt x="147193" y="5247259"/>
                  </a:lnTo>
                  <a:cubicBezTo>
                    <a:pt x="147193" y="5260848"/>
                    <a:pt x="136271" y="5271770"/>
                    <a:pt x="122682" y="5271770"/>
                  </a:cubicBezTo>
                  <a:lnTo>
                    <a:pt x="24511" y="5271770"/>
                  </a:lnTo>
                  <a:cubicBezTo>
                    <a:pt x="10922" y="5271770"/>
                    <a:pt x="0" y="5260848"/>
                    <a:pt x="0" y="5247259"/>
                  </a:cubicBez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354303" y="4570047"/>
            <a:ext cx="433320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4303" y="4985537"/>
            <a:ext cx="4333208" cy="105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21"/>
              </a:lnSpc>
            </a:pPr>
            <a:r>
              <a:rPr lang="en-US" sz="235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Identificar familias de modelos, representaciones y esquemas de evaluación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581680" y="4357945"/>
            <a:ext cx="5134366" cy="3953866"/>
            <a:chOff x="0" y="0"/>
            <a:chExt cx="6845821" cy="52718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45935" cy="5271897"/>
            </a:xfrm>
            <a:custGeom>
              <a:avLst/>
              <a:gdLst/>
              <a:ahLst/>
              <a:cxnLst/>
              <a:rect r="r" b="b" t="t" l="l"/>
              <a:pathLst>
                <a:path h="5271897" w="6845935">
                  <a:moveTo>
                    <a:pt x="0" y="878713"/>
                  </a:moveTo>
                  <a:cubicBezTo>
                    <a:pt x="0" y="393446"/>
                    <a:pt x="393446" y="0"/>
                    <a:pt x="878713" y="0"/>
                  </a:cubicBezTo>
                  <a:lnTo>
                    <a:pt x="5967222" y="0"/>
                  </a:lnTo>
                  <a:cubicBezTo>
                    <a:pt x="6452489" y="0"/>
                    <a:pt x="6845935" y="393446"/>
                    <a:pt x="6845935" y="878713"/>
                  </a:cubicBezTo>
                  <a:lnTo>
                    <a:pt x="6845935" y="4393184"/>
                  </a:lnTo>
                  <a:cubicBezTo>
                    <a:pt x="6845935" y="4878451"/>
                    <a:pt x="6452489" y="5271897"/>
                    <a:pt x="5967222" y="5271897"/>
                  </a:cubicBezTo>
                  <a:lnTo>
                    <a:pt x="878713" y="5271897"/>
                  </a:lnTo>
                  <a:cubicBezTo>
                    <a:pt x="393446" y="5271770"/>
                    <a:pt x="0" y="4878451"/>
                    <a:pt x="0" y="4393184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581680" y="4357945"/>
            <a:ext cx="110385" cy="3953866"/>
            <a:chOff x="0" y="0"/>
            <a:chExt cx="147180" cy="527182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7193" cy="5271770"/>
            </a:xfrm>
            <a:custGeom>
              <a:avLst/>
              <a:gdLst/>
              <a:ahLst/>
              <a:cxnLst/>
              <a:rect r="r" b="b" t="t" l="l"/>
              <a:pathLst>
                <a:path h="5271770" w="147193">
                  <a:moveTo>
                    <a:pt x="0" y="24511"/>
                  </a:moveTo>
                  <a:cubicBezTo>
                    <a:pt x="0" y="10922"/>
                    <a:pt x="10922" y="0"/>
                    <a:pt x="24511" y="0"/>
                  </a:cubicBezTo>
                  <a:lnTo>
                    <a:pt x="122682" y="0"/>
                  </a:lnTo>
                  <a:cubicBezTo>
                    <a:pt x="136271" y="0"/>
                    <a:pt x="147193" y="10922"/>
                    <a:pt x="147193" y="24511"/>
                  </a:cubicBezTo>
                  <a:lnTo>
                    <a:pt x="147193" y="5247259"/>
                  </a:lnTo>
                  <a:cubicBezTo>
                    <a:pt x="147193" y="5260848"/>
                    <a:pt x="136271" y="5271770"/>
                    <a:pt x="122682" y="5271770"/>
                  </a:cubicBezTo>
                  <a:lnTo>
                    <a:pt x="24511" y="5271770"/>
                  </a:lnTo>
                  <a:cubicBezTo>
                    <a:pt x="10922" y="5271770"/>
                    <a:pt x="0" y="5260848"/>
                    <a:pt x="0" y="5247259"/>
                  </a:cubicBezTo>
                  <a:close/>
                </a:path>
              </a:pathLst>
            </a:custGeom>
            <a:solidFill>
              <a:srgbClr val="1F9469"/>
            </a:solidFill>
            <a:ln w="14299" cap="sq">
              <a:solidFill>
                <a:srgbClr val="1F9469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7009705" y="4644171"/>
            <a:ext cx="433320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23139" y="4995179"/>
            <a:ext cx="4706341" cy="1419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21"/>
              </a:lnSpc>
              <a:spcBef>
                <a:spcPct val="0"/>
              </a:spcBef>
            </a:pP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Seleccionar líneas base, modelo principal, alternativas de adaptación de dominio y método de ensamble/ranking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237091" y="4357945"/>
            <a:ext cx="5134366" cy="3953866"/>
            <a:chOff x="0" y="0"/>
            <a:chExt cx="6845821" cy="527182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45935" cy="5271897"/>
            </a:xfrm>
            <a:custGeom>
              <a:avLst/>
              <a:gdLst/>
              <a:ahLst/>
              <a:cxnLst/>
              <a:rect r="r" b="b" t="t" l="l"/>
              <a:pathLst>
                <a:path h="5271897" w="6845935">
                  <a:moveTo>
                    <a:pt x="0" y="878713"/>
                  </a:moveTo>
                  <a:cubicBezTo>
                    <a:pt x="0" y="393446"/>
                    <a:pt x="393446" y="0"/>
                    <a:pt x="878713" y="0"/>
                  </a:cubicBezTo>
                  <a:lnTo>
                    <a:pt x="5967222" y="0"/>
                  </a:lnTo>
                  <a:cubicBezTo>
                    <a:pt x="6452489" y="0"/>
                    <a:pt x="6845935" y="393446"/>
                    <a:pt x="6845935" y="878713"/>
                  </a:cubicBezTo>
                  <a:lnTo>
                    <a:pt x="6845935" y="4393184"/>
                  </a:lnTo>
                  <a:cubicBezTo>
                    <a:pt x="6845935" y="4878451"/>
                    <a:pt x="6452489" y="5271897"/>
                    <a:pt x="5967222" y="5271897"/>
                  </a:cubicBezTo>
                  <a:lnTo>
                    <a:pt x="878713" y="5271897"/>
                  </a:lnTo>
                  <a:cubicBezTo>
                    <a:pt x="393446" y="5271770"/>
                    <a:pt x="0" y="4878451"/>
                    <a:pt x="0" y="4393184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237091" y="4357945"/>
            <a:ext cx="110385" cy="3953866"/>
            <a:chOff x="0" y="0"/>
            <a:chExt cx="147180" cy="527182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7193" cy="5271770"/>
            </a:xfrm>
            <a:custGeom>
              <a:avLst/>
              <a:gdLst/>
              <a:ahLst/>
              <a:cxnLst/>
              <a:rect r="r" b="b" t="t" l="l"/>
              <a:pathLst>
                <a:path h="5271770" w="147193">
                  <a:moveTo>
                    <a:pt x="0" y="24511"/>
                  </a:moveTo>
                  <a:cubicBezTo>
                    <a:pt x="0" y="10922"/>
                    <a:pt x="10922" y="0"/>
                    <a:pt x="24511" y="0"/>
                  </a:cubicBezTo>
                  <a:lnTo>
                    <a:pt x="122682" y="0"/>
                  </a:lnTo>
                  <a:cubicBezTo>
                    <a:pt x="136271" y="0"/>
                    <a:pt x="147193" y="10922"/>
                    <a:pt x="147193" y="24511"/>
                  </a:cubicBezTo>
                  <a:lnTo>
                    <a:pt x="147193" y="5247259"/>
                  </a:lnTo>
                  <a:cubicBezTo>
                    <a:pt x="147193" y="5260848"/>
                    <a:pt x="136271" y="5271770"/>
                    <a:pt x="122682" y="5271770"/>
                  </a:cubicBezTo>
                  <a:lnTo>
                    <a:pt x="24511" y="5271770"/>
                  </a:lnTo>
                  <a:cubicBezTo>
                    <a:pt x="10922" y="5271770"/>
                    <a:pt x="0" y="5260848"/>
                    <a:pt x="0" y="5247259"/>
                  </a:cubicBezTo>
                  <a:close/>
                </a:path>
              </a:pathLst>
            </a:custGeom>
            <a:solidFill>
              <a:srgbClr val="F2B531"/>
            </a:solidFill>
            <a:ln w="14299" cap="sq">
              <a:solidFill>
                <a:srgbClr val="F2B531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2665116" y="4644171"/>
            <a:ext cx="433320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871352" y="5277769"/>
            <a:ext cx="3752913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21"/>
              </a:lnSpc>
              <a:spcBef>
                <a:spcPct val="0"/>
              </a:spcBef>
            </a:pPr>
            <a:r>
              <a:rPr lang="en-US" sz="235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Establece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r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 c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on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t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ro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l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es 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de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confi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a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bi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lida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d,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explic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a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bi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li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d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ad 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y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 s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upervis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i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ó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n 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h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u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m</a:t>
            </a: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ana.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73940" y="8909333"/>
            <a:ext cx="15740120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134A9A"/>
                </a:solidFill>
                <a:latin typeface="Aptos Bold"/>
                <a:ea typeface="Aptos Bold"/>
                <a:cs typeface="Aptos Bold"/>
                <a:sym typeface="Aptos Bold"/>
              </a:rPr>
              <a:t>Alcance actual: EDA y selección preliminar completados · entrenamiento y comparación empírica pendientes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43365" y="6423927"/>
            <a:ext cx="433320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25728" y="6843027"/>
            <a:ext cx="4541574" cy="1404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21"/>
              </a:lnSpc>
            </a:pPr>
            <a:r>
              <a:rPr lang="en-US" sz="235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Contrastar ventajas y limitaciones con tamaño, estructura, desbalance y dependencia contextual del corpus.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977396" y="6566802"/>
            <a:ext cx="433320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886708" y="7006016"/>
            <a:ext cx="4620406" cy="1051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21"/>
              </a:lnSpc>
              <a:spcBef>
                <a:spcPct val="0"/>
              </a:spcBef>
            </a:pPr>
            <a:r>
              <a:rPr lang="en-US" sz="2351" strike="noStrike" u="none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Diseñar un plan experimental que evite fuga entre preguntas y mida el desempeño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7487" y="293972"/>
            <a:ext cx="614168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Nuestras Variables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7487" y="1263544"/>
            <a:ext cx="796016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5998" indent="-242999" lvl="1">
              <a:lnSpc>
                <a:spcPts val="270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5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Qu</a:t>
            </a:r>
            <a:r>
              <a:rPr lang="en-US" b="true" sz="225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estionId: Identificador único de la pregunta.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7487" y="6466284"/>
            <a:ext cx="748296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5998" indent="-242999" lvl="1">
              <a:lnSpc>
                <a:spcPts val="270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5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QuestionText: El texto de la pregunta.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7487" y="7256859"/>
            <a:ext cx="1052634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5998" indent="-242999" lvl="1">
              <a:lnSpc>
                <a:spcPts val="270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5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MC_Answer: La respuesta de opción múltiple que seleccionó el estudiante.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7487" y="4294584"/>
            <a:ext cx="1496593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5998" indent="-242999" lvl="1">
              <a:lnSpc>
                <a:spcPts val="270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5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StudentExplanation: La explicación de un estudiante para elegir una respuesta de opción múltiple específica.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7487" y="1999890"/>
            <a:ext cx="1531409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5998" indent="-242999" lvl="1">
              <a:lnSpc>
                <a:spcPts val="270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5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StudentExplanation: La explicación de un estudiante para elegir una respuesta de opción múltiple específica.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7487" y="5208984"/>
            <a:ext cx="16641813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5998" indent="-242999" lvl="1">
              <a:lnSpc>
                <a:spcPts val="270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5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Category: [Solo en el set de entrenamiento] Una clasificación de la relación entre la respuesta de opción múltiple de un estudiante y su explicación (por ejemplo, «True_Misconception», que indica la selección de una respuesta correcta acompañada de una explicación que revela un concepto erróneo).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7487" y="2757488"/>
            <a:ext cx="17670513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1054" indent="-245527" lvl="1">
              <a:lnSpc>
                <a:spcPts val="272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74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Misconception: [Solo en el set de entrenamiento] El concepto matemático erróneo identificado en la explicación del estudiante para sus respuestas. Solo aplica cuando la Categoría contiene un concepto erróneo, de lo contrario es 'NA'.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7487" y="3697486"/>
            <a:ext cx="1010699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5998" indent="-242999" lvl="1">
              <a:lnSpc>
                <a:spcPts val="270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5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sample_submission.csv: Un archivo de envío en el formato correcto.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052" y="0"/>
            <a:ext cx="18316137" cy="10309346"/>
            <a:chOff x="0" y="0"/>
            <a:chExt cx="24421516" cy="137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1464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24421464">
                  <a:moveTo>
                    <a:pt x="0" y="0"/>
                  </a:moveTo>
                  <a:lnTo>
                    <a:pt x="24421464" y="0"/>
                  </a:lnTo>
                  <a:lnTo>
                    <a:pt x="24421464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7153" y="-7153"/>
            <a:ext cx="261376" cy="10309346"/>
            <a:chOff x="0" y="0"/>
            <a:chExt cx="348501" cy="13745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488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348488">
                  <a:moveTo>
                    <a:pt x="0" y="0"/>
                  </a:moveTo>
                  <a:lnTo>
                    <a:pt x="348488" y="0"/>
                  </a:lnTo>
                  <a:lnTo>
                    <a:pt x="348488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42499" y="430073"/>
            <a:ext cx="11484835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134A9A"/>
                </a:solidFill>
                <a:latin typeface="Aptos Bold"/>
                <a:ea typeface="Aptos Bold"/>
                <a:cs typeface="Aptos Bold"/>
                <a:sym typeface="Aptos Bold"/>
              </a:rPr>
              <a:t>CONJUNTO DE DATOS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2499" y="906304"/>
            <a:ext cx="1615192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Perfil del</a:t>
            </a:r>
            <a:r>
              <a:rPr lang="en-US" sz="4053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 Corpus MAP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69410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43905" y="2298944"/>
            <a:ext cx="2992993" cy="1592875"/>
            <a:chOff x="0" y="0"/>
            <a:chExt cx="3990658" cy="21238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90594" cy="2123821"/>
            </a:xfrm>
            <a:custGeom>
              <a:avLst/>
              <a:gdLst/>
              <a:ahLst/>
              <a:cxnLst/>
              <a:rect r="r" b="b" t="t" l="l"/>
              <a:pathLst>
                <a:path h="2123821" w="3990594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636645" y="0"/>
                  </a:lnTo>
                  <a:cubicBezTo>
                    <a:pt x="3832098" y="0"/>
                    <a:pt x="3990594" y="158496"/>
                    <a:pt x="3990594" y="353949"/>
                  </a:cubicBezTo>
                  <a:lnTo>
                    <a:pt x="3990594" y="1769872"/>
                  </a:lnTo>
                  <a:cubicBezTo>
                    <a:pt x="3990594" y="1965325"/>
                    <a:pt x="3832098" y="2123821"/>
                    <a:pt x="3636645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107215" y="2516534"/>
            <a:ext cx="2466375" cy="55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00A6E0"/>
                </a:solidFill>
                <a:latin typeface="Aptos Bold"/>
                <a:ea typeface="Aptos Bold"/>
                <a:cs typeface="Aptos Bold"/>
                <a:sym typeface="Aptos Bold"/>
              </a:rPr>
              <a:t>36,696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7215" y="3248244"/>
            <a:ext cx="2466375" cy="274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FILAS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055964" y="2298944"/>
            <a:ext cx="2649826" cy="1592875"/>
            <a:chOff x="0" y="0"/>
            <a:chExt cx="3533102" cy="21238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533013" cy="2123821"/>
            </a:xfrm>
            <a:custGeom>
              <a:avLst/>
              <a:gdLst/>
              <a:ahLst/>
              <a:cxnLst/>
              <a:rect r="r" b="b" t="t" l="l"/>
              <a:pathLst>
                <a:path h="2123821" w="3533013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179064" y="0"/>
                  </a:lnTo>
                  <a:cubicBezTo>
                    <a:pt x="3374517" y="0"/>
                    <a:pt x="3533013" y="158496"/>
                    <a:pt x="3533013" y="353949"/>
                  </a:cubicBezTo>
                  <a:lnTo>
                    <a:pt x="3533013" y="1769872"/>
                  </a:lnTo>
                  <a:cubicBezTo>
                    <a:pt x="3533013" y="1965325"/>
                    <a:pt x="3374517" y="2123821"/>
                    <a:pt x="3179064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4319273" y="2516534"/>
            <a:ext cx="2123208" cy="55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134A9A"/>
                </a:solidFill>
                <a:latin typeface="Aptos Bold"/>
                <a:ea typeface="Aptos Bold"/>
                <a:cs typeface="Aptos Bold"/>
                <a:sym typeface="Aptos Bold"/>
              </a:rPr>
              <a:t>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19273" y="3248244"/>
            <a:ext cx="2123208" cy="274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COLUMNAS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924846" y="2298944"/>
            <a:ext cx="2649826" cy="1592875"/>
            <a:chOff x="0" y="0"/>
            <a:chExt cx="3533102" cy="21238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33013" cy="2123821"/>
            </a:xfrm>
            <a:custGeom>
              <a:avLst/>
              <a:gdLst/>
              <a:ahLst/>
              <a:cxnLst/>
              <a:rect r="r" b="b" t="t" l="l"/>
              <a:pathLst>
                <a:path h="2123821" w="3533013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179064" y="0"/>
                  </a:lnTo>
                  <a:cubicBezTo>
                    <a:pt x="3374517" y="0"/>
                    <a:pt x="3533013" y="158496"/>
                    <a:pt x="3533013" y="353949"/>
                  </a:cubicBezTo>
                  <a:lnTo>
                    <a:pt x="3533013" y="1769872"/>
                  </a:lnTo>
                  <a:cubicBezTo>
                    <a:pt x="3533013" y="1965325"/>
                    <a:pt x="3374517" y="2123821"/>
                    <a:pt x="3179064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7188156" y="2516534"/>
            <a:ext cx="2123208" cy="55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F2B531"/>
                </a:solidFill>
                <a:latin typeface="Aptos Bold"/>
                <a:ea typeface="Aptos Bold"/>
                <a:cs typeface="Aptos Bold"/>
                <a:sym typeface="Aptos Bold"/>
              </a:rPr>
              <a:t>15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188156" y="3248244"/>
            <a:ext cx="2123208" cy="274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PREGUNTAS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793729" y="2298944"/>
            <a:ext cx="2649826" cy="1592875"/>
            <a:chOff x="0" y="0"/>
            <a:chExt cx="3533102" cy="21238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33013" cy="2123821"/>
            </a:xfrm>
            <a:custGeom>
              <a:avLst/>
              <a:gdLst/>
              <a:ahLst/>
              <a:cxnLst/>
              <a:rect r="r" b="b" t="t" l="l"/>
              <a:pathLst>
                <a:path h="2123821" w="3533013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179064" y="0"/>
                  </a:lnTo>
                  <a:cubicBezTo>
                    <a:pt x="3374517" y="0"/>
                    <a:pt x="3533013" y="158496"/>
                    <a:pt x="3533013" y="353949"/>
                  </a:cubicBezTo>
                  <a:lnTo>
                    <a:pt x="3533013" y="1769872"/>
                  </a:lnTo>
                  <a:cubicBezTo>
                    <a:pt x="3533013" y="1965325"/>
                    <a:pt x="3374517" y="2123821"/>
                    <a:pt x="3179064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0057038" y="2516534"/>
            <a:ext cx="2123208" cy="55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1F9469"/>
                </a:solidFill>
                <a:latin typeface="Aptos Bold"/>
                <a:ea typeface="Aptos Bold"/>
                <a:cs typeface="Aptos Bold"/>
                <a:sym typeface="Aptos Bold"/>
              </a:rPr>
              <a:t>49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57038" y="3248244"/>
            <a:ext cx="2123208" cy="274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OPCIONES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662621" y="2298944"/>
            <a:ext cx="2649826" cy="1592875"/>
            <a:chOff x="0" y="0"/>
            <a:chExt cx="3533102" cy="21238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533013" cy="2123821"/>
            </a:xfrm>
            <a:custGeom>
              <a:avLst/>
              <a:gdLst/>
              <a:ahLst/>
              <a:cxnLst/>
              <a:rect r="r" b="b" t="t" l="l"/>
              <a:pathLst>
                <a:path h="2123821" w="3533013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179064" y="0"/>
                  </a:lnTo>
                  <a:cubicBezTo>
                    <a:pt x="3374517" y="0"/>
                    <a:pt x="3533013" y="158496"/>
                    <a:pt x="3533013" y="353949"/>
                  </a:cubicBezTo>
                  <a:lnTo>
                    <a:pt x="3533013" y="1769872"/>
                  </a:lnTo>
                  <a:cubicBezTo>
                    <a:pt x="3533013" y="1965325"/>
                    <a:pt x="3374517" y="2123821"/>
                    <a:pt x="3179064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2925930" y="2516534"/>
            <a:ext cx="2123208" cy="55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CA4241"/>
                </a:solidFill>
                <a:latin typeface="Aptos Bold"/>
                <a:ea typeface="Aptos Bold"/>
                <a:cs typeface="Aptos Bold"/>
                <a:sym typeface="Aptos Bold"/>
              </a:rPr>
              <a:t>35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925930" y="3248244"/>
            <a:ext cx="2123208" cy="274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ERRORES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5531503" y="2298944"/>
            <a:ext cx="1881130" cy="1592875"/>
            <a:chOff x="0" y="0"/>
            <a:chExt cx="2508174" cy="212383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08123" cy="2123821"/>
            </a:xfrm>
            <a:custGeom>
              <a:avLst/>
              <a:gdLst/>
              <a:ahLst/>
              <a:cxnLst/>
              <a:rect r="r" b="b" t="t" l="l"/>
              <a:pathLst>
                <a:path h="2123821" w="2508123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2154174" y="0"/>
                  </a:lnTo>
                  <a:cubicBezTo>
                    <a:pt x="2349627" y="0"/>
                    <a:pt x="2508123" y="158496"/>
                    <a:pt x="2508123" y="353949"/>
                  </a:cubicBezTo>
                  <a:lnTo>
                    <a:pt x="2508123" y="1769872"/>
                  </a:lnTo>
                  <a:cubicBezTo>
                    <a:pt x="2508123" y="1965325"/>
                    <a:pt x="2349627" y="2123821"/>
                    <a:pt x="2154174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5794812" y="2516534"/>
            <a:ext cx="1354512" cy="55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65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794812" y="3248244"/>
            <a:ext cx="1354512" cy="274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PARES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43905" y="4357945"/>
            <a:ext cx="8030708" cy="2996505"/>
            <a:chOff x="0" y="0"/>
            <a:chExt cx="10707611" cy="39953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07624" cy="3995230"/>
            </a:xfrm>
            <a:custGeom>
              <a:avLst/>
              <a:gdLst/>
              <a:ahLst/>
              <a:cxnLst/>
              <a:rect r="r" b="b" t="t" l="l"/>
              <a:pathLst>
                <a:path h="3995230" w="10707624">
                  <a:moveTo>
                    <a:pt x="0" y="665872"/>
                  </a:moveTo>
                  <a:cubicBezTo>
                    <a:pt x="0" y="298086"/>
                    <a:pt x="376936" y="0"/>
                    <a:pt x="842010" y="0"/>
                  </a:cubicBezTo>
                  <a:lnTo>
                    <a:pt x="9865614" y="0"/>
                  </a:lnTo>
                  <a:cubicBezTo>
                    <a:pt x="10330688" y="0"/>
                    <a:pt x="10707624" y="298086"/>
                    <a:pt x="10707624" y="665872"/>
                  </a:cubicBezTo>
                  <a:lnTo>
                    <a:pt x="10707624" y="3329358"/>
                  </a:lnTo>
                  <a:cubicBezTo>
                    <a:pt x="10707624" y="3697144"/>
                    <a:pt x="10330688" y="3995230"/>
                    <a:pt x="9865614" y="3995230"/>
                  </a:cubicBezTo>
                  <a:lnTo>
                    <a:pt x="842010" y="3995230"/>
                  </a:lnTo>
                  <a:cubicBezTo>
                    <a:pt x="376936" y="3995230"/>
                    <a:pt x="0" y="3697144"/>
                    <a:pt x="0" y="3329358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271940" y="4644171"/>
            <a:ext cx="7229551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Variables de entrada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71940" y="5128470"/>
            <a:ext cx="7229551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0976" indent="-275488" lvl="1">
              <a:lnSpc>
                <a:spcPts val="3062"/>
              </a:lnSpc>
              <a:buFont typeface="Arial"/>
              <a:buChar char="•"/>
            </a:pPr>
            <a:r>
              <a:rPr lang="en-US" sz="255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row_id</a:t>
            </a:r>
          </a:p>
          <a:p>
            <a:pPr algn="l" marL="550976" indent="-275488" lvl="1">
              <a:lnSpc>
                <a:spcPts val="3062"/>
              </a:lnSpc>
              <a:buFont typeface="Arial"/>
              <a:buChar char="•"/>
            </a:pPr>
            <a:r>
              <a:rPr lang="en-US" sz="255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QuestionId</a:t>
            </a:r>
          </a:p>
          <a:p>
            <a:pPr algn="l" marL="550976" indent="-275488" lvl="1">
              <a:lnSpc>
                <a:spcPts val="3062"/>
              </a:lnSpc>
              <a:buFont typeface="Arial"/>
              <a:buChar char="•"/>
            </a:pPr>
            <a:r>
              <a:rPr lang="en-US" sz="255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QuestionText</a:t>
            </a:r>
          </a:p>
          <a:p>
            <a:pPr algn="l" marL="550976" indent="-275488" lvl="1">
              <a:lnSpc>
                <a:spcPts val="3062"/>
              </a:lnSpc>
              <a:buFont typeface="Arial"/>
              <a:buChar char="•"/>
            </a:pPr>
            <a:r>
              <a:rPr lang="en-US" sz="255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MC_Answer</a:t>
            </a:r>
          </a:p>
          <a:p>
            <a:pPr algn="l" marL="550976" indent="-275488" lvl="1">
              <a:lnSpc>
                <a:spcPts val="3062"/>
              </a:lnSpc>
              <a:buFont typeface="Arial"/>
              <a:buChar char="•"/>
            </a:pPr>
            <a:r>
              <a:rPr lang="en-US" sz="255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StudentExplanation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272121" y="4357945"/>
            <a:ext cx="8140522" cy="2996505"/>
            <a:chOff x="0" y="0"/>
            <a:chExt cx="10854030" cy="39953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853928" cy="3995230"/>
            </a:xfrm>
            <a:custGeom>
              <a:avLst/>
              <a:gdLst/>
              <a:ahLst/>
              <a:cxnLst/>
              <a:rect r="r" b="b" t="t" l="l"/>
              <a:pathLst>
                <a:path h="3995230" w="10853928">
                  <a:moveTo>
                    <a:pt x="0" y="665872"/>
                  </a:moveTo>
                  <a:cubicBezTo>
                    <a:pt x="0" y="298086"/>
                    <a:pt x="376936" y="0"/>
                    <a:pt x="842010" y="0"/>
                  </a:cubicBezTo>
                  <a:lnTo>
                    <a:pt x="10011918" y="0"/>
                  </a:lnTo>
                  <a:cubicBezTo>
                    <a:pt x="10476992" y="0"/>
                    <a:pt x="10853928" y="298086"/>
                    <a:pt x="10853928" y="665872"/>
                  </a:cubicBezTo>
                  <a:lnTo>
                    <a:pt x="10853928" y="3329358"/>
                  </a:lnTo>
                  <a:cubicBezTo>
                    <a:pt x="10853928" y="3697144"/>
                    <a:pt x="10476992" y="3995230"/>
                    <a:pt x="10011918" y="3995230"/>
                  </a:cubicBezTo>
                  <a:lnTo>
                    <a:pt x="842010" y="3995230"/>
                  </a:lnTo>
                  <a:cubicBezTo>
                    <a:pt x="376936" y="3995230"/>
                    <a:pt x="0" y="3697144"/>
                    <a:pt x="0" y="3329358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9700146" y="4644171"/>
            <a:ext cx="7339365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Variables objetivo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00146" y="5233187"/>
            <a:ext cx="7339365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0976" indent="-275488" lvl="1">
              <a:lnSpc>
                <a:spcPts val="3062"/>
              </a:lnSpc>
              <a:buFont typeface="Arial"/>
              <a:buChar char="•"/>
            </a:pPr>
            <a:r>
              <a:rPr lang="en-US" sz="255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Category combina tipo y corrección</a:t>
            </a:r>
          </a:p>
          <a:p>
            <a:pPr algn="l" marL="550976" indent="-275488" lvl="1">
              <a:lnSpc>
                <a:spcPts val="3062"/>
              </a:lnSpc>
              <a:buFont typeface="Arial"/>
              <a:buChar char="•"/>
            </a:pPr>
            <a:r>
              <a:rPr lang="en-US" sz="255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Misconception identifica la idea errónea cuando aplica</a:t>
            </a:r>
          </a:p>
          <a:p>
            <a:pPr algn="l" marL="550976" indent="-275488" lvl="1">
              <a:lnSpc>
                <a:spcPts val="3062"/>
              </a:lnSpc>
              <a:buFont typeface="Arial"/>
              <a:buChar char="•"/>
            </a:pPr>
            <a:r>
              <a:rPr lang="en-US" sz="255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La unidad de análisis es respuesta estudiantil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572508" y="9644901"/>
            <a:ext cx="8423777" cy="30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Fuente: train.csv del repositorio del proyecto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53" y="-7153"/>
            <a:ext cx="261376" cy="10309346"/>
            <a:chOff x="0" y="0"/>
            <a:chExt cx="348501" cy="137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8488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348488">
                  <a:moveTo>
                    <a:pt x="0" y="0"/>
                  </a:moveTo>
                  <a:lnTo>
                    <a:pt x="348488" y="0"/>
                  </a:lnTo>
                  <a:lnTo>
                    <a:pt x="348488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43905" y="1873415"/>
            <a:ext cx="1496787" cy="82934"/>
            <a:chOff x="0" y="0"/>
            <a:chExt cx="1995716" cy="1105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5678" cy="110617"/>
            </a:xfrm>
            <a:custGeom>
              <a:avLst/>
              <a:gdLst/>
              <a:ahLst/>
              <a:cxnLst/>
              <a:rect r="r" b="b" t="t" l="l"/>
              <a:pathLst>
                <a:path h="110617" w="1995678">
                  <a:moveTo>
                    <a:pt x="0" y="0"/>
                  </a:moveTo>
                  <a:lnTo>
                    <a:pt x="1995678" y="0"/>
                  </a:lnTo>
                  <a:lnTo>
                    <a:pt x="1995678" y="110617"/>
                  </a:lnTo>
                  <a:lnTo>
                    <a:pt x="0" y="110617"/>
                  </a:lnTo>
                  <a:close/>
                </a:path>
              </a:pathLst>
            </a:custGeom>
            <a:solidFill>
              <a:srgbClr val="F2B531"/>
            </a:solidFill>
            <a:ln w="14299" cap="sq">
              <a:solidFill>
                <a:srgbClr val="F2B531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931243" y="1873415"/>
            <a:ext cx="11641270" cy="3848895"/>
          </a:xfrm>
          <a:custGeom>
            <a:avLst/>
            <a:gdLst/>
            <a:ahLst/>
            <a:cxnLst/>
            <a:rect r="r" b="b" t="t" l="l"/>
            <a:pathLst>
              <a:path h="3848895" w="11641270">
                <a:moveTo>
                  <a:pt x="0" y="0"/>
                </a:moveTo>
                <a:lnTo>
                  <a:pt x="11641270" y="0"/>
                </a:lnTo>
                <a:lnTo>
                  <a:pt x="11641270" y="3848895"/>
                </a:lnTo>
                <a:lnTo>
                  <a:pt x="0" y="3848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40693" y="5890288"/>
            <a:ext cx="4108259" cy="3819049"/>
          </a:xfrm>
          <a:custGeom>
            <a:avLst/>
            <a:gdLst/>
            <a:ahLst/>
            <a:cxnLst/>
            <a:rect r="r" b="b" t="t" l="l"/>
            <a:pathLst>
              <a:path h="3819049" w="4108259">
                <a:moveTo>
                  <a:pt x="0" y="0"/>
                </a:moveTo>
                <a:lnTo>
                  <a:pt x="4108258" y="0"/>
                </a:lnTo>
                <a:lnTo>
                  <a:pt x="4108258" y="3819049"/>
                </a:lnTo>
                <a:lnTo>
                  <a:pt x="0" y="38190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390362" y="5839733"/>
            <a:ext cx="4364301" cy="3969617"/>
          </a:xfrm>
          <a:custGeom>
            <a:avLst/>
            <a:gdLst/>
            <a:ahLst/>
            <a:cxnLst/>
            <a:rect r="r" b="b" t="t" l="l"/>
            <a:pathLst>
              <a:path h="3969617" w="4364301">
                <a:moveTo>
                  <a:pt x="0" y="0"/>
                </a:moveTo>
                <a:lnTo>
                  <a:pt x="4364301" y="0"/>
                </a:lnTo>
                <a:lnTo>
                  <a:pt x="4364301" y="3969617"/>
                </a:lnTo>
                <a:lnTo>
                  <a:pt x="0" y="39696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42499" y="430073"/>
            <a:ext cx="11484835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134A9A"/>
                </a:solidFill>
                <a:latin typeface="Aptos Bold"/>
                <a:ea typeface="Aptos Bold"/>
                <a:cs typeface="Aptos Bold"/>
                <a:sym typeface="Aptos Bold"/>
              </a:rPr>
              <a:t>CONJUNTO DE DATOS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2499" y="906304"/>
            <a:ext cx="1615192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Hallazgos clave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769410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53" y="-7153"/>
            <a:ext cx="18316137" cy="10309346"/>
            <a:chOff x="0" y="0"/>
            <a:chExt cx="24421516" cy="137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1464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24421464">
                  <a:moveTo>
                    <a:pt x="0" y="0"/>
                  </a:moveTo>
                  <a:lnTo>
                    <a:pt x="24421464" y="0"/>
                  </a:lnTo>
                  <a:lnTo>
                    <a:pt x="24421464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7153" y="-7153"/>
            <a:ext cx="261376" cy="10309346"/>
            <a:chOff x="0" y="0"/>
            <a:chExt cx="348501" cy="13745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488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348488">
                  <a:moveTo>
                    <a:pt x="0" y="0"/>
                  </a:moveTo>
                  <a:lnTo>
                    <a:pt x="348488" y="0"/>
                  </a:lnTo>
                  <a:lnTo>
                    <a:pt x="348488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42499" y="430073"/>
            <a:ext cx="11484835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134A9A"/>
                </a:solidFill>
                <a:latin typeface="Aptos Bold"/>
                <a:ea typeface="Aptos Bold"/>
                <a:cs typeface="Aptos Bold"/>
                <a:sym typeface="Aptos Bold"/>
              </a:rPr>
              <a:t>LIMPIEZA Y PREPROCESAMIENTO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2499" y="906304"/>
            <a:ext cx="16151924" cy="88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Los nulos tienen significado semántico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43905" y="1873415"/>
            <a:ext cx="1496787" cy="82934"/>
            <a:chOff x="0" y="0"/>
            <a:chExt cx="1995716" cy="1105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5678" cy="110617"/>
            </a:xfrm>
            <a:custGeom>
              <a:avLst/>
              <a:gdLst/>
              <a:ahLst/>
              <a:cxnLst/>
              <a:rect r="r" b="b" t="t" l="l"/>
              <a:pathLst>
                <a:path h="110617" w="1995678">
                  <a:moveTo>
                    <a:pt x="0" y="0"/>
                  </a:moveTo>
                  <a:lnTo>
                    <a:pt x="1995678" y="0"/>
                  </a:lnTo>
                  <a:lnTo>
                    <a:pt x="1995678" y="110617"/>
                  </a:lnTo>
                  <a:lnTo>
                    <a:pt x="0" y="110617"/>
                  </a:lnTo>
                  <a:close/>
                </a:path>
              </a:pathLst>
            </a:custGeom>
            <a:solidFill>
              <a:srgbClr val="F2B531"/>
            </a:solidFill>
            <a:ln w="14299" cap="sq">
              <a:solidFill>
                <a:srgbClr val="F2B531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6769410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08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43905" y="2353847"/>
            <a:ext cx="3775424" cy="1592875"/>
            <a:chOff x="0" y="0"/>
            <a:chExt cx="5033899" cy="21238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33899" cy="2123821"/>
            </a:xfrm>
            <a:custGeom>
              <a:avLst/>
              <a:gdLst/>
              <a:ahLst/>
              <a:cxnLst/>
              <a:rect r="r" b="b" t="t" l="l"/>
              <a:pathLst>
                <a:path h="2123821" w="5033899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4679950" y="0"/>
                  </a:lnTo>
                  <a:cubicBezTo>
                    <a:pt x="4875403" y="0"/>
                    <a:pt x="5033899" y="158496"/>
                    <a:pt x="5033899" y="353949"/>
                  </a:cubicBezTo>
                  <a:lnTo>
                    <a:pt x="5033899" y="1769872"/>
                  </a:lnTo>
                  <a:cubicBezTo>
                    <a:pt x="5033899" y="1965325"/>
                    <a:pt x="4875403" y="2123821"/>
                    <a:pt x="4679950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107215" y="2571436"/>
            <a:ext cx="3248797" cy="55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CA4241"/>
                </a:solidFill>
                <a:latin typeface="Aptos Bold"/>
                <a:ea typeface="Aptos Bold"/>
                <a:cs typeface="Aptos Bold"/>
                <a:sym typeface="Aptos Bold"/>
              </a:rPr>
              <a:t>26,836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7215" y="3303156"/>
            <a:ext cx="3248797" cy="274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MISCONCEPTION NULOS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810935" y="2353847"/>
            <a:ext cx="3775424" cy="1592875"/>
            <a:chOff x="0" y="0"/>
            <a:chExt cx="5033899" cy="21238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33899" cy="2123821"/>
            </a:xfrm>
            <a:custGeom>
              <a:avLst/>
              <a:gdLst/>
              <a:ahLst/>
              <a:cxnLst/>
              <a:rect r="r" b="b" t="t" l="l"/>
              <a:pathLst>
                <a:path h="2123821" w="5033899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4679950" y="0"/>
                  </a:lnTo>
                  <a:cubicBezTo>
                    <a:pt x="4875403" y="0"/>
                    <a:pt x="5033899" y="158496"/>
                    <a:pt x="5033899" y="353949"/>
                  </a:cubicBezTo>
                  <a:lnTo>
                    <a:pt x="5033899" y="1769872"/>
                  </a:lnTo>
                  <a:cubicBezTo>
                    <a:pt x="5033899" y="1965325"/>
                    <a:pt x="4875403" y="2123821"/>
                    <a:pt x="4679950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5074244" y="2571436"/>
            <a:ext cx="3248797" cy="55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F2B531"/>
                </a:solidFill>
                <a:latin typeface="Aptos Bold"/>
                <a:ea typeface="Aptos Bold"/>
                <a:cs typeface="Aptos Bold"/>
                <a:sym typeface="Aptos Bold"/>
              </a:rPr>
              <a:t>73.1%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74244" y="3303156"/>
            <a:ext cx="3248797" cy="274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DEL TOTAL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777954" y="2353847"/>
            <a:ext cx="3775424" cy="1592875"/>
            <a:chOff x="0" y="0"/>
            <a:chExt cx="5033899" cy="21238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33899" cy="2123821"/>
            </a:xfrm>
            <a:custGeom>
              <a:avLst/>
              <a:gdLst/>
              <a:ahLst/>
              <a:cxnLst/>
              <a:rect r="r" b="b" t="t" l="l"/>
              <a:pathLst>
                <a:path h="2123821" w="5033899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4679950" y="0"/>
                  </a:lnTo>
                  <a:cubicBezTo>
                    <a:pt x="4875403" y="0"/>
                    <a:pt x="5033899" y="158496"/>
                    <a:pt x="5033899" y="353949"/>
                  </a:cubicBezTo>
                  <a:lnTo>
                    <a:pt x="5033899" y="1769872"/>
                  </a:lnTo>
                  <a:cubicBezTo>
                    <a:pt x="5033899" y="1965325"/>
                    <a:pt x="4875403" y="2123821"/>
                    <a:pt x="4679950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041263" y="2571436"/>
            <a:ext cx="3248797" cy="55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00A6E0"/>
                </a:solidFill>
                <a:latin typeface="Aptos Bold"/>
                <a:ea typeface="Aptos Bold"/>
                <a:cs typeface="Aptos Bold"/>
                <a:sym typeface="Aptos Bold"/>
              </a:rPr>
              <a:t>736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041263" y="3303156"/>
            <a:ext cx="3248797" cy="274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DUPLICADOS SIN row_id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744974" y="2353847"/>
            <a:ext cx="3775424" cy="1592875"/>
            <a:chOff x="0" y="0"/>
            <a:chExt cx="5033899" cy="212383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33899" cy="2123821"/>
            </a:xfrm>
            <a:custGeom>
              <a:avLst/>
              <a:gdLst/>
              <a:ahLst/>
              <a:cxnLst/>
              <a:rect r="r" b="b" t="t" l="l"/>
              <a:pathLst>
                <a:path h="2123821" w="5033899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4679950" y="0"/>
                  </a:lnTo>
                  <a:cubicBezTo>
                    <a:pt x="4875403" y="0"/>
                    <a:pt x="5033899" y="158496"/>
                    <a:pt x="5033899" y="353949"/>
                  </a:cubicBezTo>
                  <a:lnTo>
                    <a:pt x="5033899" y="1769872"/>
                  </a:lnTo>
                  <a:cubicBezTo>
                    <a:pt x="5033899" y="1965325"/>
                    <a:pt x="4875403" y="2123821"/>
                    <a:pt x="4679950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3008283" y="2571436"/>
            <a:ext cx="3248797" cy="55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134A9A"/>
                </a:solidFill>
                <a:latin typeface="Aptos Bold"/>
                <a:ea typeface="Aptos Bold"/>
                <a:cs typeface="Aptos Bold"/>
                <a:sym typeface="Aptos Bold"/>
              </a:rPr>
              <a:t>970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008283" y="3303156"/>
            <a:ext cx="3248797" cy="274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TEXTOS REPETIDOS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43905" y="4495219"/>
            <a:ext cx="7907169" cy="3693062"/>
            <a:chOff x="0" y="0"/>
            <a:chExt cx="10542892" cy="492408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42905" cy="4924044"/>
            </a:xfrm>
            <a:custGeom>
              <a:avLst/>
              <a:gdLst/>
              <a:ahLst/>
              <a:cxnLst/>
              <a:rect r="r" b="b" t="t" l="l"/>
              <a:pathLst>
                <a:path h="4924044" w="10542905">
                  <a:moveTo>
                    <a:pt x="0" y="820674"/>
                  </a:moveTo>
                  <a:cubicBezTo>
                    <a:pt x="0" y="367411"/>
                    <a:pt x="367411" y="0"/>
                    <a:pt x="820674" y="0"/>
                  </a:cubicBezTo>
                  <a:lnTo>
                    <a:pt x="9722231" y="0"/>
                  </a:lnTo>
                  <a:cubicBezTo>
                    <a:pt x="10175494" y="0"/>
                    <a:pt x="10542905" y="367411"/>
                    <a:pt x="10542905" y="820674"/>
                  </a:cubicBezTo>
                  <a:lnTo>
                    <a:pt x="10542905" y="4103370"/>
                  </a:lnTo>
                  <a:cubicBezTo>
                    <a:pt x="10542905" y="4556633"/>
                    <a:pt x="10175494" y="4924044"/>
                    <a:pt x="9722231" y="4924044"/>
                  </a:cubicBezTo>
                  <a:lnTo>
                    <a:pt x="820674" y="4924044"/>
                  </a:lnTo>
                  <a:cubicBezTo>
                    <a:pt x="367411" y="4924044"/>
                    <a:pt x="0" y="4556633"/>
                    <a:pt x="0" y="4103370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43905" y="4495219"/>
            <a:ext cx="110385" cy="3693062"/>
            <a:chOff x="0" y="0"/>
            <a:chExt cx="147180" cy="492408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7193" cy="4924044"/>
            </a:xfrm>
            <a:custGeom>
              <a:avLst/>
              <a:gdLst/>
              <a:ahLst/>
              <a:cxnLst/>
              <a:rect r="r" b="b" t="t" l="l"/>
              <a:pathLst>
                <a:path h="4924044" w="147193">
                  <a:moveTo>
                    <a:pt x="0" y="24511"/>
                  </a:moveTo>
                  <a:cubicBezTo>
                    <a:pt x="0" y="10922"/>
                    <a:pt x="10922" y="0"/>
                    <a:pt x="24511" y="0"/>
                  </a:cubicBezTo>
                  <a:lnTo>
                    <a:pt x="122682" y="0"/>
                  </a:lnTo>
                  <a:cubicBezTo>
                    <a:pt x="136271" y="0"/>
                    <a:pt x="147193" y="10922"/>
                    <a:pt x="147193" y="24511"/>
                  </a:cubicBezTo>
                  <a:lnTo>
                    <a:pt x="147193" y="4899533"/>
                  </a:lnTo>
                  <a:cubicBezTo>
                    <a:pt x="147193" y="4913122"/>
                    <a:pt x="136271" y="4924044"/>
                    <a:pt x="122682" y="4924044"/>
                  </a:cubicBezTo>
                  <a:lnTo>
                    <a:pt x="24511" y="4924044"/>
                  </a:lnTo>
                  <a:cubicBezTo>
                    <a:pt x="10922" y="4924044"/>
                    <a:pt x="0" y="4913122"/>
                    <a:pt x="0" y="4899533"/>
                  </a:cubicBezTo>
                  <a:close/>
                </a:path>
              </a:pathLst>
            </a:custGeom>
            <a:solidFill>
              <a:srgbClr val="1F9469"/>
            </a:solidFill>
            <a:ln w="14299" cap="sq">
              <a:solidFill>
                <a:srgbClr val="1F9469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271940" y="4781436"/>
            <a:ext cx="7106012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Decisiones de limpieza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71940" y="5399141"/>
            <a:ext cx="7106012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565" indent="-259282" lvl="1">
              <a:lnSpc>
                <a:spcPts val="2882"/>
              </a:lnSpc>
              <a:buFont typeface="Arial"/>
              <a:buChar char="•"/>
            </a:pPr>
            <a:r>
              <a:rPr lang="en-US" sz="24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Conservar “nulo” como una ausencia válida</a:t>
            </a:r>
          </a:p>
          <a:p>
            <a:pPr algn="l" marL="518565" indent="-259282" lvl="1">
              <a:lnSpc>
                <a:spcPts val="2882"/>
              </a:lnSpc>
              <a:buFont typeface="Arial"/>
              <a:buChar char="•"/>
            </a:pPr>
            <a:r>
              <a:rPr lang="en-US" sz="24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N</a:t>
            </a:r>
            <a:r>
              <a:rPr lang="en-US" sz="24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ormalizar espacios y unicode</a:t>
            </a:r>
          </a:p>
          <a:p>
            <a:pPr algn="l" marL="518565" indent="-259282" lvl="1">
              <a:lnSpc>
                <a:spcPts val="2882"/>
              </a:lnSpc>
              <a:buFont typeface="Arial"/>
              <a:buChar char="•"/>
            </a:pPr>
            <a:r>
              <a:rPr lang="en-US" sz="24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Agrupar duplicados en la validación</a:t>
            </a:r>
          </a:p>
          <a:p>
            <a:pPr algn="l" marL="518565" indent="-259282" lvl="1">
              <a:lnSpc>
                <a:spcPts val="2882"/>
              </a:lnSpc>
              <a:buFont typeface="Arial"/>
              <a:buChar char="•"/>
            </a:pPr>
            <a:r>
              <a:rPr lang="en-US" sz="24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Auditar textos extremos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134846" y="4495219"/>
            <a:ext cx="7385552" cy="3693062"/>
            <a:chOff x="0" y="0"/>
            <a:chExt cx="9847402" cy="492408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847326" cy="4924044"/>
            </a:xfrm>
            <a:custGeom>
              <a:avLst/>
              <a:gdLst/>
              <a:ahLst/>
              <a:cxnLst/>
              <a:rect r="r" b="b" t="t" l="l"/>
              <a:pathLst>
                <a:path h="4924044" w="9847326">
                  <a:moveTo>
                    <a:pt x="0" y="820674"/>
                  </a:moveTo>
                  <a:cubicBezTo>
                    <a:pt x="0" y="367411"/>
                    <a:pt x="367411" y="0"/>
                    <a:pt x="820674" y="0"/>
                  </a:cubicBezTo>
                  <a:lnTo>
                    <a:pt x="9026652" y="0"/>
                  </a:lnTo>
                  <a:cubicBezTo>
                    <a:pt x="9479915" y="0"/>
                    <a:pt x="9847326" y="367411"/>
                    <a:pt x="9847326" y="820674"/>
                  </a:cubicBezTo>
                  <a:lnTo>
                    <a:pt x="9847326" y="4103370"/>
                  </a:lnTo>
                  <a:cubicBezTo>
                    <a:pt x="9847326" y="4556633"/>
                    <a:pt x="9479915" y="4924044"/>
                    <a:pt x="9026652" y="4924044"/>
                  </a:cubicBezTo>
                  <a:lnTo>
                    <a:pt x="820674" y="4924044"/>
                  </a:lnTo>
                  <a:cubicBezTo>
                    <a:pt x="367411" y="4924044"/>
                    <a:pt x="0" y="4556633"/>
                    <a:pt x="0" y="4103370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134846" y="4495219"/>
            <a:ext cx="110385" cy="3693062"/>
            <a:chOff x="0" y="0"/>
            <a:chExt cx="147180" cy="492408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7193" cy="4924044"/>
            </a:xfrm>
            <a:custGeom>
              <a:avLst/>
              <a:gdLst/>
              <a:ahLst/>
              <a:cxnLst/>
              <a:rect r="r" b="b" t="t" l="l"/>
              <a:pathLst>
                <a:path h="4924044" w="147193">
                  <a:moveTo>
                    <a:pt x="0" y="24511"/>
                  </a:moveTo>
                  <a:cubicBezTo>
                    <a:pt x="0" y="10922"/>
                    <a:pt x="10922" y="0"/>
                    <a:pt x="24511" y="0"/>
                  </a:cubicBezTo>
                  <a:lnTo>
                    <a:pt x="122682" y="0"/>
                  </a:lnTo>
                  <a:cubicBezTo>
                    <a:pt x="136271" y="0"/>
                    <a:pt x="147193" y="10922"/>
                    <a:pt x="147193" y="24511"/>
                  </a:cubicBezTo>
                  <a:lnTo>
                    <a:pt x="147193" y="4899533"/>
                  </a:lnTo>
                  <a:cubicBezTo>
                    <a:pt x="147193" y="4913122"/>
                    <a:pt x="136271" y="4924044"/>
                    <a:pt x="122682" y="4924044"/>
                  </a:cubicBezTo>
                  <a:lnTo>
                    <a:pt x="24511" y="4924044"/>
                  </a:lnTo>
                  <a:cubicBezTo>
                    <a:pt x="10922" y="4924044"/>
                    <a:pt x="0" y="4913122"/>
                    <a:pt x="0" y="4899533"/>
                  </a:cubicBezTo>
                  <a:close/>
                </a:path>
              </a:pathLst>
            </a:custGeom>
            <a:solidFill>
              <a:srgbClr val="F2B531"/>
            </a:solidFill>
            <a:ln w="14299" cap="sq">
              <a:solidFill>
                <a:srgbClr val="F2B531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9562881" y="4781436"/>
            <a:ext cx="658439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Qué no se elimina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562881" y="5399141"/>
            <a:ext cx="6584394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82"/>
              </a:lnSpc>
            </a:pPr>
            <a:r>
              <a:rPr lang="en-US" sz="24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Números, operadores, signos, negaciones ni estructura de la expresión: pueden cambiar completamente el razonamiento matemático.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71940" y="8556288"/>
            <a:ext cx="15163600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Comprobación: el patrón de nulos coincide con categorías sin misconception; no se imputa una etiqueta inexistente.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53" y="-7153"/>
            <a:ext cx="18316137" cy="10309346"/>
            <a:chOff x="0" y="0"/>
            <a:chExt cx="24421516" cy="137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1464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24421464">
                  <a:moveTo>
                    <a:pt x="0" y="0"/>
                  </a:moveTo>
                  <a:lnTo>
                    <a:pt x="24421464" y="0"/>
                  </a:lnTo>
                  <a:lnTo>
                    <a:pt x="24421464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7153" y="-7153"/>
            <a:ext cx="261376" cy="10309346"/>
            <a:chOff x="0" y="0"/>
            <a:chExt cx="348501" cy="13745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488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348488">
                  <a:moveTo>
                    <a:pt x="0" y="0"/>
                  </a:moveTo>
                  <a:lnTo>
                    <a:pt x="348488" y="0"/>
                  </a:lnTo>
                  <a:lnTo>
                    <a:pt x="348488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42499" y="430073"/>
            <a:ext cx="11484835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134A9A"/>
                </a:solidFill>
                <a:latin typeface="Aptos Bold"/>
                <a:ea typeface="Aptos Bold"/>
                <a:cs typeface="Aptos Bold"/>
                <a:sym typeface="Aptos Bold"/>
              </a:rPr>
              <a:t>EDA UNIVARIADO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2499" y="906304"/>
            <a:ext cx="16151924" cy="88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Una clase dominante y una cola larga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43905" y="1873415"/>
            <a:ext cx="1496787" cy="82934"/>
            <a:chOff x="0" y="0"/>
            <a:chExt cx="1995716" cy="1105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5678" cy="110617"/>
            </a:xfrm>
            <a:custGeom>
              <a:avLst/>
              <a:gdLst/>
              <a:ahLst/>
              <a:cxnLst/>
              <a:rect r="r" b="b" t="t" l="l"/>
              <a:pathLst>
                <a:path h="110617" w="1995678">
                  <a:moveTo>
                    <a:pt x="0" y="0"/>
                  </a:moveTo>
                  <a:lnTo>
                    <a:pt x="1995678" y="0"/>
                  </a:lnTo>
                  <a:lnTo>
                    <a:pt x="1995678" y="110617"/>
                  </a:lnTo>
                  <a:lnTo>
                    <a:pt x="0" y="110617"/>
                  </a:lnTo>
                  <a:close/>
                </a:path>
              </a:pathLst>
            </a:custGeom>
            <a:solidFill>
              <a:srgbClr val="F2B531"/>
            </a:solidFill>
            <a:ln w="14299" cap="sq">
              <a:solidFill>
                <a:srgbClr val="F2B531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6769410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09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05961" y="2125923"/>
            <a:ext cx="16472068" cy="6070644"/>
            <a:chOff x="0" y="0"/>
            <a:chExt cx="21962758" cy="8094193"/>
          </a:xfrm>
        </p:grpSpPr>
        <p:sp>
          <p:nvSpPr>
            <p:cNvPr name="Freeform 12" id="12" descr="distribucion_misconceptions.png"/>
            <p:cNvSpPr/>
            <p:nvPr/>
          </p:nvSpPr>
          <p:spPr>
            <a:xfrm flipH="false" flipV="false" rot="0">
              <a:off x="0" y="0"/>
              <a:ext cx="21962745" cy="8094218"/>
            </a:xfrm>
            <a:custGeom>
              <a:avLst/>
              <a:gdLst/>
              <a:ahLst/>
              <a:cxnLst/>
              <a:rect r="r" b="b" t="t" l="l"/>
              <a:pathLst>
                <a:path h="8094218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8094218"/>
                  </a:lnTo>
                  <a:lnTo>
                    <a:pt x="0" y="8094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98817" y="8270062"/>
            <a:ext cx="16486365" cy="920258"/>
            <a:chOff x="0" y="0"/>
            <a:chExt cx="21981820" cy="12270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81795" cy="1226947"/>
            </a:xfrm>
            <a:custGeom>
              <a:avLst/>
              <a:gdLst/>
              <a:ahLst/>
              <a:cxnLst/>
              <a:rect r="r" b="b" t="t" l="l"/>
              <a:pathLst>
                <a:path h="1226947" w="21981795">
                  <a:moveTo>
                    <a:pt x="0" y="204470"/>
                  </a:moveTo>
                  <a:cubicBezTo>
                    <a:pt x="0" y="91567"/>
                    <a:pt x="91567" y="0"/>
                    <a:pt x="204470" y="0"/>
                  </a:cubicBezTo>
                  <a:lnTo>
                    <a:pt x="21777325" y="0"/>
                  </a:lnTo>
                  <a:cubicBezTo>
                    <a:pt x="21890228" y="0"/>
                    <a:pt x="21981795" y="91567"/>
                    <a:pt x="21981795" y="204470"/>
                  </a:cubicBezTo>
                  <a:lnTo>
                    <a:pt x="21981795" y="1022477"/>
                  </a:lnTo>
                  <a:cubicBezTo>
                    <a:pt x="21981795" y="1135380"/>
                    <a:pt x="21890228" y="1226947"/>
                    <a:pt x="21777325" y="1226947"/>
                  </a:cubicBezTo>
                  <a:lnTo>
                    <a:pt x="204470" y="1226947"/>
                  </a:lnTo>
                  <a:cubicBezTo>
                    <a:pt x="91567" y="1227074"/>
                    <a:pt x="0" y="1135507"/>
                    <a:pt x="0" y="1022477"/>
                  </a:cubicBezTo>
                  <a:close/>
                </a:path>
              </a:pathLst>
            </a:custGeom>
            <a:solidFill>
              <a:srgbClr val="081B34"/>
            </a:solidFill>
            <a:ln w="14299" cap="sq">
              <a:solidFill>
                <a:srgbClr val="081B34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299391" y="8533038"/>
            <a:ext cx="15671482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True_Correct concentra 40.34% · 32 de 65 pares tienen &lt; 50 casos · 24 tienen &lt; 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53" y="-7153"/>
            <a:ext cx="18316137" cy="10309346"/>
            <a:chOff x="0" y="0"/>
            <a:chExt cx="24421516" cy="137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1464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24421464">
                  <a:moveTo>
                    <a:pt x="0" y="0"/>
                  </a:moveTo>
                  <a:lnTo>
                    <a:pt x="24421464" y="0"/>
                  </a:lnTo>
                  <a:lnTo>
                    <a:pt x="24421464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7153" y="-7153"/>
            <a:ext cx="261376" cy="10309346"/>
            <a:chOff x="0" y="0"/>
            <a:chExt cx="348501" cy="13745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488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348488">
                  <a:moveTo>
                    <a:pt x="0" y="0"/>
                  </a:moveTo>
                  <a:lnTo>
                    <a:pt x="348488" y="0"/>
                  </a:lnTo>
                  <a:lnTo>
                    <a:pt x="348488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42499" y="430073"/>
            <a:ext cx="11484835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134A9A"/>
                </a:solidFill>
                <a:latin typeface="Aptos Bold"/>
                <a:ea typeface="Aptos Bold"/>
                <a:cs typeface="Aptos Bold"/>
                <a:sym typeface="Aptos Bold"/>
              </a:rPr>
              <a:t>EDA BIVARIADO Y MULTIVARIADO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2499" y="906304"/>
            <a:ext cx="16151924" cy="88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La longitud no explica por sí sola la etiqueta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43905" y="1873415"/>
            <a:ext cx="1496787" cy="82934"/>
            <a:chOff x="0" y="0"/>
            <a:chExt cx="1995716" cy="1105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5678" cy="110617"/>
            </a:xfrm>
            <a:custGeom>
              <a:avLst/>
              <a:gdLst/>
              <a:ahLst/>
              <a:cxnLst/>
              <a:rect r="r" b="b" t="t" l="l"/>
              <a:pathLst>
                <a:path h="110617" w="1995678">
                  <a:moveTo>
                    <a:pt x="0" y="0"/>
                  </a:moveTo>
                  <a:lnTo>
                    <a:pt x="1995678" y="0"/>
                  </a:lnTo>
                  <a:lnTo>
                    <a:pt x="1995678" y="110617"/>
                  </a:lnTo>
                  <a:lnTo>
                    <a:pt x="0" y="110617"/>
                  </a:lnTo>
                  <a:close/>
                </a:path>
              </a:pathLst>
            </a:custGeom>
            <a:solidFill>
              <a:srgbClr val="F2B531"/>
            </a:solidFill>
            <a:ln w="14299" cap="sq">
              <a:solidFill>
                <a:srgbClr val="F2B531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6769410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10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05961" y="2064153"/>
            <a:ext cx="16472068" cy="6070644"/>
            <a:chOff x="0" y="0"/>
            <a:chExt cx="21962758" cy="8094193"/>
          </a:xfrm>
        </p:grpSpPr>
        <p:sp>
          <p:nvSpPr>
            <p:cNvPr name="Freeform 12" id="12" descr="longitud_por_categoria.png"/>
            <p:cNvSpPr/>
            <p:nvPr/>
          </p:nvSpPr>
          <p:spPr>
            <a:xfrm flipH="false" flipV="false" rot="0">
              <a:off x="0" y="0"/>
              <a:ext cx="21962745" cy="8094218"/>
            </a:xfrm>
            <a:custGeom>
              <a:avLst/>
              <a:gdLst/>
              <a:ahLst/>
              <a:cxnLst/>
              <a:rect r="r" b="b" t="t" l="l"/>
              <a:pathLst>
                <a:path h="8094218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8094218"/>
                  </a:lnTo>
                  <a:lnTo>
                    <a:pt x="0" y="8094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36082" y="8228886"/>
            <a:ext cx="16211836" cy="1002621"/>
            <a:chOff x="0" y="0"/>
            <a:chExt cx="21615781" cy="13368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615781" cy="1336802"/>
            </a:xfrm>
            <a:custGeom>
              <a:avLst/>
              <a:gdLst/>
              <a:ahLst/>
              <a:cxnLst/>
              <a:rect r="r" b="b" t="t" l="l"/>
              <a:pathLst>
                <a:path h="1336802" w="21615781">
                  <a:moveTo>
                    <a:pt x="0" y="222758"/>
                  </a:moveTo>
                  <a:cubicBezTo>
                    <a:pt x="0" y="99695"/>
                    <a:pt x="99695" y="0"/>
                    <a:pt x="222758" y="0"/>
                  </a:cubicBezTo>
                  <a:lnTo>
                    <a:pt x="21393023" y="0"/>
                  </a:lnTo>
                  <a:cubicBezTo>
                    <a:pt x="21516085" y="0"/>
                    <a:pt x="21615781" y="99695"/>
                    <a:pt x="21615781" y="222758"/>
                  </a:cubicBezTo>
                  <a:lnTo>
                    <a:pt x="21615781" y="1114044"/>
                  </a:lnTo>
                  <a:cubicBezTo>
                    <a:pt x="21615781" y="1237107"/>
                    <a:pt x="21516087" y="1336802"/>
                    <a:pt x="21393023" y="1336802"/>
                  </a:cubicBezTo>
                  <a:lnTo>
                    <a:pt x="222758" y="1336802"/>
                  </a:lnTo>
                  <a:cubicBezTo>
                    <a:pt x="99695" y="1336802"/>
                    <a:pt x="0" y="1237107"/>
                    <a:pt x="0" y="1114044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409205" y="8419024"/>
            <a:ext cx="15465590" cy="238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Mediana 13 · Media 15.36 · Máximo 177 · ρ(diversidad, palabras) ≈ −0.59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94297" y="8789641"/>
            <a:ext cx="886794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Los outliers no se eliminan automáticamente porque pueden contener razonamiento válido, se auditan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53" y="-7153"/>
            <a:ext cx="18316137" cy="10309346"/>
            <a:chOff x="0" y="0"/>
            <a:chExt cx="24421516" cy="137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1464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24421464">
                  <a:moveTo>
                    <a:pt x="0" y="0"/>
                  </a:moveTo>
                  <a:lnTo>
                    <a:pt x="24421464" y="0"/>
                  </a:lnTo>
                  <a:lnTo>
                    <a:pt x="24421464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7153" y="-7153"/>
            <a:ext cx="261376" cy="10309346"/>
            <a:chOff x="0" y="0"/>
            <a:chExt cx="348501" cy="13745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488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348488">
                  <a:moveTo>
                    <a:pt x="0" y="0"/>
                  </a:moveTo>
                  <a:lnTo>
                    <a:pt x="348488" y="0"/>
                  </a:lnTo>
                  <a:lnTo>
                    <a:pt x="348488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42499" y="430073"/>
            <a:ext cx="11484835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134A9A"/>
                </a:solidFill>
                <a:latin typeface="Aptos Bold"/>
                <a:ea typeface="Aptos Bold"/>
                <a:cs typeface="Aptos Bold"/>
                <a:sym typeface="Aptos Bold"/>
              </a:rPr>
              <a:t>CONTEXTO, MULTIVARIADO Y FUGA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2499" y="906304"/>
            <a:ext cx="16151924" cy="88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La pregunta estructura el espacio de errores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43905" y="1873415"/>
            <a:ext cx="1496787" cy="82934"/>
            <a:chOff x="0" y="0"/>
            <a:chExt cx="1995716" cy="1105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5678" cy="110617"/>
            </a:xfrm>
            <a:custGeom>
              <a:avLst/>
              <a:gdLst/>
              <a:ahLst/>
              <a:cxnLst/>
              <a:rect r="r" b="b" t="t" l="l"/>
              <a:pathLst>
                <a:path h="110617" w="1995678">
                  <a:moveTo>
                    <a:pt x="0" y="0"/>
                  </a:moveTo>
                  <a:lnTo>
                    <a:pt x="1995678" y="0"/>
                  </a:lnTo>
                  <a:lnTo>
                    <a:pt x="1995678" y="110617"/>
                  </a:lnTo>
                  <a:lnTo>
                    <a:pt x="0" y="110617"/>
                  </a:lnTo>
                  <a:close/>
                </a:path>
              </a:pathLst>
            </a:custGeom>
            <a:solidFill>
              <a:srgbClr val="F2B531"/>
            </a:solidFill>
            <a:ln w="14299" cap="sq">
              <a:solidFill>
                <a:srgbClr val="F2B531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6769410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11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05961" y="2223849"/>
            <a:ext cx="16472068" cy="5710076"/>
            <a:chOff x="0" y="0"/>
            <a:chExt cx="21962758" cy="7613434"/>
          </a:xfrm>
        </p:grpSpPr>
        <p:sp>
          <p:nvSpPr>
            <p:cNvPr name="Freeform 12" id="12" descr="cruces_por_pregunta.png"/>
            <p:cNvSpPr/>
            <p:nvPr/>
          </p:nvSpPr>
          <p:spPr>
            <a:xfrm flipH="false" flipV="false" rot="0">
              <a:off x="0" y="0"/>
              <a:ext cx="21962745" cy="7613396"/>
            </a:xfrm>
            <a:custGeom>
              <a:avLst/>
              <a:gdLst/>
              <a:ahLst/>
              <a:cxnLst/>
              <a:rect r="r" b="b" t="t" l="l"/>
              <a:pathLst>
                <a:path h="7613396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7613396"/>
                  </a:lnTo>
                  <a:lnTo>
                    <a:pt x="0" y="7613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98817" y="8228886"/>
            <a:ext cx="16486365" cy="975170"/>
            <a:chOff x="0" y="0"/>
            <a:chExt cx="21981820" cy="13002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81796" cy="1300226"/>
            </a:xfrm>
            <a:custGeom>
              <a:avLst/>
              <a:gdLst/>
              <a:ahLst/>
              <a:cxnLst/>
              <a:rect r="r" b="b" t="t" l="l"/>
              <a:pathLst>
                <a:path h="1300226" w="21981796">
                  <a:moveTo>
                    <a:pt x="0" y="216662"/>
                  </a:moveTo>
                  <a:cubicBezTo>
                    <a:pt x="0" y="97028"/>
                    <a:pt x="97028" y="0"/>
                    <a:pt x="216662" y="0"/>
                  </a:cubicBezTo>
                  <a:lnTo>
                    <a:pt x="21765133" y="0"/>
                  </a:lnTo>
                  <a:cubicBezTo>
                    <a:pt x="21884768" y="0"/>
                    <a:pt x="21981796" y="97028"/>
                    <a:pt x="21981796" y="216662"/>
                  </a:cubicBezTo>
                  <a:lnTo>
                    <a:pt x="21981796" y="1083564"/>
                  </a:lnTo>
                  <a:cubicBezTo>
                    <a:pt x="21981796" y="1203198"/>
                    <a:pt x="21884768" y="1300226"/>
                    <a:pt x="21765133" y="1300226"/>
                  </a:cubicBezTo>
                  <a:lnTo>
                    <a:pt x="216662" y="1300226"/>
                  </a:lnTo>
                  <a:cubicBezTo>
                    <a:pt x="97028" y="1300226"/>
                    <a:pt x="0" y="1203198"/>
                    <a:pt x="0" y="1083564"/>
                  </a:cubicBezTo>
                  <a:close/>
                </a:path>
              </a:pathLst>
            </a:custGeom>
            <a:solidFill>
              <a:srgbClr val="081B34"/>
            </a:solidFill>
            <a:ln w="14299" cap="sq">
              <a:solidFill>
                <a:srgbClr val="081B34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313117" y="8419024"/>
            <a:ext cx="15671482" cy="238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026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32/35 errores aparecen en una sola pregunta · True_Correct varía de 35.7% a 79.6%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5479" y="8789641"/>
            <a:ext cx="15465590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>
                <a:solidFill>
                  <a:srgbClr val="CCDEEE"/>
                </a:solidFill>
                <a:latin typeface="Aptos"/>
                <a:ea typeface="Aptos"/>
                <a:cs typeface="Aptos"/>
                <a:sym typeface="Aptos"/>
              </a:rPr>
              <a:t>Implicación: evitar QuestionId como atajo y comprobar generalización con GroupKFold.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53" y="-7153"/>
            <a:ext cx="18316137" cy="10309346"/>
            <a:chOff x="0" y="0"/>
            <a:chExt cx="24421516" cy="137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1464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24421464">
                  <a:moveTo>
                    <a:pt x="0" y="0"/>
                  </a:moveTo>
                  <a:lnTo>
                    <a:pt x="24421464" y="0"/>
                  </a:lnTo>
                  <a:lnTo>
                    <a:pt x="24421464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7153" y="-7153"/>
            <a:ext cx="261376" cy="10309346"/>
            <a:chOff x="0" y="0"/>
            <a:chExt cx="348501" cy="13745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488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348488">
                  <a:moveTo>
                    <a:pt x="0" y="0"/>
                  </a:moveTo>
                  <a:lnTo>
                    <a:pt x="348488" y="0"/>
                  </a:lnTo>
                  <a:lnTo>
                    <a:pt x="348488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42499" y="430073"/>
            <a:ext cx="11484835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134A9A"/>
                </a:solidFill>
                <a:latin typeface="Aptos Bold"/>
                <a:ea typeface="Aptos Bold"/>
                <a:cs typeface="Aptos Bold"/>
                <a:sym typeface="Aptos Bold"/>
              </a:rPr>
              <a:t>EVOLUCIÓN DE ALGORITMOS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2499" y="906304"/>
            <a:ext cx="16151924" cy="88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De similitud léxica a adaptación de dominio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43905" y="1873415"/>
            <a:ext cx="1496787" cy="82934"/>
            <a:chOff x="0" y="0"/>
            <a:chExt cx="1995716" cy="1105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5678" cy="110617"/>
            </a:xfrm>
            <a:custGeom>
              <a:avLst/>
              <a:gdLst/>
              <a:ahLst/>
              <a:cxnLst/>
              <a:rect r="r" b="b" t="t" l="l"/>
              <a:pathLst>
                <a:path h="110617" w="1995678">
                  <a:moveTo>
                    <a:pt x="0" y="0"/>
                  </a:moveTo>
                  <a:lnTo>
                    <a:pt x="1995678" y="0"/>
                  </a:lnTo>
                  <a:lnTo>
                    <a:pt x="1995678" y="110617"/>
                  </a:lnTo>
                  <a:lnTo>
                    <a:pt x="0" y="110617"/>
                  </a:lnTo>
                  <a:close/>
                </a:path>
              </a:pathLst>
            </a:custGeom>
            <a:solidFill>
              <a:srgbClr val="F2B531"/>
            </a:solidFill>
            <a:ln w="14299" cap="sq">
              <a:solidFill>
                <a:srgbClr val="F2B531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6769410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12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98817" y="2491111"/>
            <a:ext cx="3747964" cy="5848160"/>
            <a:chOff x="0" y="0"/>
            <a:chExt cx="4997285" cy="77975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97196" cy="7797547"/>
            </a:xfrm>
            <a:custGeom>
              <a:avLst/>
              <a:gdLst/>
              <a:ahLst/>
              <a:cxnLst/>
              <a:rect r="r" b="b" t="t" l="l"/>
              <a:pathLst>
                <a:path h="7797547" w="4997196">
                  <a:moveTo>
                    <a:pt x="0" y="832866"/>
                  </a:moveTo>
                  <a:cubicBezTo>
                    <a:pt x="0" y="372872"/>
                    <a:pt x="372872" y="0"/>
                    <a:pt x="832866" y="0"/>
                  </a:cubicBezTo>
                  <a:lnTo>
                    <a:pt x="4164330" y="0"/>
                  </a:lnTo>
                  <a:cubicBezTo>
                    <a:pt x="4624324" y="0"/>
                    <a:pt x="4997196" y="372872"/>
                    <a:pt x="4997196" y="832866"/>
                  </a:cubicBezTo>
                  <a:lnTo>
                    <a:pt x="4997196" y="6964680"/>
                  </a:lnTo>
                  <a:cubicBezTo>
                    <a:pt x="4997196" y="7424675"/>
                    <a:pt x="4624324" y="7797547"/>
                    <a:pt x="4164330" y="7797547"/>
                  </a:cubicBezTo>
                  <a:lnTo>
                    <a:pt x="832866" y="7797547"/>
                  </a:lnTo>
                  <a:cubicBezTo>
                    <a:pt x="372872" y="7797546"/>
                    <a:pt x="0" y="7424674"/>
                    <a:pt x="0" y="6964680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2106768" y="2765650"/>
            <a:ext cx="1318336" cy="1318336"/>
            <a:chOff x="0" y="0"/>
            <a:chExt cx="1757782" cy="17577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57807" cy="1757807"/>
            </a:xfrm>
            <a:custGeom>
              <a:avLst/>
              <a:gdLst/>
              <a:ahLst/>
              <a:cxnLst/>
              <a:rect r="r" b="b" t="t" l="l"/>
              <a:pathLst>
                <a:path h="1757807" w="1757807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1464818" y="0"/>
                  </a:lnTo>
                  <a:cubicBezTo>
                    <a:pt x="1626616" y="0"/>
                    <a:pt x="1757807" y="131191"/>
                    <a:pt x="1757807" y="292989"/>
                  </a:cubicBezTo>
                  <a:lnTo>
                    <a:pt x="1757807" y="1464818"/>
                  </a:lnTo>
                  <a:cubicBezTo>
                    <a:pt x="1757807" y="1626616"/>
                    <a:pt x="1626616" y="1757807"/>
                    <a:pt x="1464818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2205352" y="3065602"/>
            <a:ext cx="1121159" cy="56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9391" y="4479455"/>
            <a:ext cx="2946816" cy="56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Reglas y similitud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0568" y="5417068"/>
            <a:ext cx="2864453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Soluciones interpretables aunque frágiles ante paráfrasis.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085464" y="2491111"/>
            <a:ext cx="3747964" cy="5848160"/>
            <a:chOff x="0" y="0"/>
            <a:chExt cx="4997285" cy="77975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97196" cy="7797547"/>
            </a:xfrm>
            <a:custGeom>
              <a:avLst/>
              <a:gdLst/>
              <a:ahLst/>
              <a:cxnLst/>
              <a:rect r="r" b="b" t="t" l="l"/>
              <a:pathLst>
                <a:path h="7797547" w="4997196">
                  <a:moveTo>
                    <a:pt x="0" y="832866"/>
                  </a:moveTo>
                  <a:cubicBezTo>
                    <a:pt x="0" y="372872"/>
                    <a:pt x="372872" y="0"/>
                    <a:pt x="832866" y="0"/>
                  </a:cubicBezTo>
                  <a:lnTo>
                    <a:pt x="4164330" y="0"/>
                  </a:lnTo>
                  <a:cubicBezTo>
                    <a:pt x="4624324" y="0"/>
                    <a:pt x="4997196" y="372872"/>
                    <a:pt x="4997196" y="832866"/>
                  </a:cubicBezTo>
                  <a:lnTo>
                    <a:pt x="4997196" y="6964680"/>
                  </a:lnTo>
                  <a:cubicBezTo>
                    <a:pt x="4997196" y="7424675"/>
                    <a:pt x="4624324" y="7797547"/>
                    <a:pt x="4164330" y="7797547"/>
                  </a:cubicBezTo>
                  <a:lnTo>
                    <a:pt x="832866" y="7797547"/>
                  </a:lnTo>
                  <a:cubicBezTo>
                    <a:pt x="372872" y="7797546"/>
                    <a:pt x="0" y="7424674"/>
                    <a:pt x="0" y="6964680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293415" y="2765650"/>
            <a:ext cx="1318336" cy="1318336"/>
            <a:chOff x="0" y="0"/>
            <a:chExt cx="1757782" cy="175778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57807" cy="1757807"/>
            </a:xfrm>
            <a:custGeom>
              <a:avLst/>
              <a:gdLst/>
              <a:ahLst/>
              <a:cxnLst/>
              <a:rect r="r" b="b" t="t" l="l"/>
              <a:pathLst>
                <a:path h="1757807" w="1757807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1464818" y="0"/>
                  </a:lnTo>
                  <a:cubicBezTo>
                    <a:pt x="1626616" y="0"/>
                    <a:pt x="1757807" y="131191"/>
                    <a:pt x="1757807" y="292989"/>
                  </a:cubicBezTo>
                  <a:lnTo>
                    <a:pt x="1757807" y="1464818"/>
                  </a:lnTo>
                  <a:cubicBezTo>
                    <a:pt x="1757807" y="1626616"/>
                    <a:pt x="1626616" y="1757807"/>
                    <a:pt x="1464818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134A9A"/>
            </a:solidFill>
            <a:ln w="14299" cap="sq">
              <a:solidFill>
                <a:srgbClr val="134A9A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6392008" y="3065602"/>
            <a:ext cx="1121159" cy="56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86038" y="4479455"/>
            <a:ext cx="2946816" cy="56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TF–IDF + SVM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27224" y="5417068"/>
            <a:ext cx="2864453" cy="214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Baseline competitivo y barato para texto corto.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272121" y="2491111"/>
            <a:ext cx="3747964" cy="5848160"/>
            <a:chOff x="0" y="0"/>
            <a:chExt cx="4997285" cy="779754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97196" cy="7797547"/>
            </a:xfrm>
            <a:custGeom>
              <a:avLst/>
              <a:gdLst/>
              <a:ahLst/>
              <a:cxnLst/>
              <a:rect r="r" b="b" t="t" l="l"/>
              <a:pathLst>
                <a:path h="7797547" w="4997196">
                  <a:moveTo>
                    <a:pt x="0" y="832866"/>
                  </a:moveTo>
                  <a:cubicBezTo>
                    <a:pt x="0" y="372872"/>
                    <a:pt x="372872" y="0"/>
                    <a:pt x="832866" y="0"/>
                  </a:cubicBezTo>
                  <a:lnTo>
                    <a:pt x="4164330" y="0"/>
                  </a:lnTo>
                  <a:cubicBezTo>
                    <a:pt x="4624324" y="0"/>
                    <a:pt x="4997196" y="372872"/>
                    <a:pt x="4997196" y="832866"/>
                  </a:cubicBezTo>
                  <a:lnTo>
                    <a:pt x="4997196" y="6964680"/>
                  </a:lnTo>
                  <a:cubicBezTo>
                    <a:pt x="4997196" y="7424675"/>
                    <a:pt x="4624324" y="7797547"/>
                    <a:pt x="4164330" y="7797547"/>
                  </a:cubicBezTo>
                  <a:lnTo>
                    <a:pt x="832866" y="7797547"/>
                  </a:lnTo>
                  <a:cubicBezTo>
                    <a:pt x="372872" y="7797546"/>
                    <a:pt x="0" y="7424674"/>
                    <a:pt x="0" y="6964680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480072" y="2765650"/>
            <a:ext cx="1318336" cy="1318336"/>
            <a:chOff x="0" y="0"/>
            <a:chExt cx="1757782" cy="175778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57807" cy="1757807"/>
            </a:xfrm>
            <a:custGeom>
              <a:avLst/>
              <a:gdLst/>
              <a:ahLst/>
              <a:cxnLst/>
              <a:rect r="r" b="b" t="t" l="l"/>
              <a:pathLst>
                <a:path h="1757807" w="1757807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1464818" y="0"/>
                  </a:lnTo>
                  <a:cubicBezTo>
                    <a:pt x="1626616" y="0"/>
                    <a:pt x="1757807" y="131191"/>
                    <a:pt x="1757807" y="292989"/>
                  </a:cubicBezTo>
                  <a:lnTo>
                    <a:pt x="1757807" y="1464818"/>
                  </a:lnTo>
                  <a:cubicBezTo>
                    <a:pt x="1757807" y="1626616"/>
                    <a:pt x="1626616" y="1757807"/>
                    <a:pt x="1464818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F2B531"/>
            </a:solidFill>
            <a:ln w="14299" cap="sq">
              <a:solidFill>
                <a:srgbClr val="F2B531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0578655" y="3065602"/>
            <a:ext cx="1121159" cy="56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72695" y="4479455"/>
            <a:ext cx="2946816" cy="56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BERT / DeBERTa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13871" y="5417068"/>
            <a:ext cx="2864453" cy="214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Contexto bidireccional y atención desacoplada.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458768" y="2491111"/>
            <a:ext cx="3747964" cy="5848160"/>
            <a:chOff x="0" y="0"/>
            <a:chExt cx="4997285" cy="779754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97196" cy="7797547"/>
            </a:xfrm>
            <a:custGeom>
              <a:avLst/>
              <a:gdLst/>
              <a:ahLst/>
              <a:cxnLst/>
              <a:rect r="r" b="b" t="t" l="l"/>
              <a:pathLst>
                <a:path h="7797547" w="4997196">
                  <a:moveTo>
                    <a:pt x="0" y="832866"/>
                  </a:moveTo>
                  <a:cubicBezTo>
                    <a:pt x="0" y="372872"/>
                    <a:pt x="372872" y="0"/>
                    <a:pt x="832866" y="0"/>
                  </a:cubicBezTo>
                  <a:lnTo>
                    <a:pt x="4164330" y="0"/>
                  </a:lnTo>
                  <a:cubicBezTo>
                    <a:pt x="4624324" y="0"/>
                    <a:pt x="4997196" y="372872"/>
                    <a:pt x="4997196" y="832866"/>
                  </a:cubicBezTo>
                  <a:lnTo>
                    <a:pt x="4997196" y="6964680"/>
                  </a:lnTo>
                  <a:cubicBezTo>
                    <a:pt x="4997196" y="7424675"/>
                    <a:pt x="4624324" y="7797547"/>
                    <a:pt x="4164330" y="7797547"/>
                  </a:cubicBezTo>
                  <a:lnTo>
                    <a:pt x="832866" y="7797547"/>
                  </a:lnTo>
                  <a:cubicBezTo>
                    <a:pt x="372872" y="7797546"/>
                    <a:pt x="0" y="7424674"/>
                    <a:pt x="0" y="6964680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4666719" y="2765650"/>
            <a:ext cx="1318336" cy="1318336"/>
            <a:chOff x="0" y="0"/>
            <a:chExt cx="1757782" cy="175778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57807" cy="1757807"/>
            </a:xfrm>
            <a:custGeom>
              <a:avLst/>
              <a:gdLst/>
              <a:ahLst/>
              <a:cxnLst/>
              <a:rect r="r" b="b" t="t" l="l"/>
              <a:pathLst>
                <a:path h="1757807" w="1757807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1464818" y="0"/>
                  </a:lnTo>
                  <a:cubicBezTo>
                    <a:pt x="1626616" y="0"/>
                    <a:pt x="1757807" y="131191"/>
                    <a:pt x="1757807" y="292989"/>
                  </a:cubicBezTo>
                  <a:lnTo>
                    <a:pt x="1757807" y="1464818"/>
                  </a:lnTo>
                  <a:cubicBezTo>
                    <a:pt x="1757807" y="1626616"/>
                    <a:pt x="1626616" y="1757807"/>
                    <a:pt x="1464818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1F9469"/>
            </a:solidFill>
            <a:ln w="14299" cap="sq">
              <a:solidFill>
                <a:srgbClr val="1F9469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4765312" y="3065602"/>
            <a:ext cx="1121159" cy="56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859342" y="4479455"/>
            <a:ext cx="2946816" cy="56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MathBERT / DAPT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900518" y="5417068"/>
            <a:ext cx="2864453" cy="214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Vocabulario y patrones del dominio matemático.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71940" y="8638651"/>
            <a:ext cx="15767571" cy="2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Criterio de avance: adoptar complejidad solo si mejora MAP@3 y macro F1 bajo el mismo protocolo de validación.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572508" y="9644901"/>
            <a:ext cx="8423777" cy="30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Burrows et al. (2015); Devlin et al. (2019); He et al. (2021); Shen et al. (2021)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53" y="-7153"/>
            <a:ext cx="18316137" cy="10309346"/>
            <a:chOff x="0" y="0"/>
            <a:chExt cx="24421516" cy="137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1464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24421464">
                  <a:moveTo>
                    <a:pt x="0" y="0"/>
                  </a:moveTo>
                  <a:lnTo>
                    <a:pt x="24421464" y="0"/>
                  </a:lnTo>
                  <a:lnTo>
                    <a:pt x="24421464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7153" y="-7153"/>
            <a:ext cx="261376" cy="10309346"/>
            <a:chOff x="0" y="0"/>
            <a:chExt cx="348501" cy="13745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488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348488">
                  <a:moveTo>
                    <a:pt x="0" y="0"/>
                  </a:moveTo>
                  <a:lnTo>
                    <a:pt x="348488" y="0"/>
                  </a:lnTo>
                  <a:lnTo>
                    <a:pt x="348488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42499" y="430073"/>
            <a:ext cx="11484835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134A9A"/>
                </a:solidFill>
                <a:latin typeface="Aptos Bold"/>
                <a:ea typeface="Aptos Bold"/>
                <a:cs typeface="Aptos Bold"/>
                <a:sym typeface="Aptos Bold"/>
              </a:rPr>
              <a:t>EVIDENCIA REVISADA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2499" y="906304"/>
            <a:ext cx="16151924" cy="88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La literatura converge en cuatro decisiones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43905" y="1873415"/>
            <a:ext cx="1496787" cy="82934"/>
            <a:chOff x="0" y="0"/>
            <a:chExt cx="1995716" cy="1105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5678" cy="110617"/>
            </a:xfrm>
            <a:custGeom>
              <a:avLst/>
              <a:gdLst/>
              <a:ahLst/>
              <a:cxnLst/>
              <a:rect r="r" b="b" t="t" l="l"/>
              <a:pathLst>
                <a:path h="110617" w="1995678">
                  <a:moveTo>
                    <a:pt x="0" y="0"/>
                  </a:moveTo>
                  <a:lnTo>
                    <a:pt x="1995678" y="0"/>
                  </a:lnTo>
                  <a:lnTo>
                    <a:pt x="1995678" y="110617"/>
                  </a:lnTo>
                  <a:lnTo>
                    <a:pt x="0" y="110617"/>
                  </a:lnTo>
                  <a:close/>
                </a:path>
              </a:pathLst>
            </a:custGeom>
            <a:solidFill>
              <a:srgbClr val="F2B531"/>
            </a:solidFill>
            <a:ln w="14299" cap="sq">
              <a:solidFill>
                <a:srgbClr val="F2B531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6769410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13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85092" y="2353847"/>
            <a:ext cx="7975797" cy="2787101"/>
            <a:chOff x="0" y="0"/>
            <a:chExt cx="10634396" cy="37161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34473" cy="3716147"/>
            </a:xfrm>
            <a:custGeom>
              <a:avLst/>
              <a:gdLst/>
              <a:ahLst/>
              <a:cxnLst/>
              <a:rect r="r" b="b" t="t" l="l"/>
              <a:pathLst>
                <a:path h="3716147" w="10634473">
                  <a:moveTo>
                    <a:pt x="0" y="619379"/>
                  </a:moveTo>
                  <a:cubicBezTo>
                    <a:pt x="0" y="277241"/>
                    <a:pt x="277241" y="0"/>
                    <a:pt x="619379" y="0"/>
                  </a:cubicBezTo>
                  <a:lnTo>
                    <a:pt x="10015093" y="0"/>
                  </a:lnTo>
                  <a:cubicBezTo>
                    <a:pt x="10357104" y="0"/>
                    <a:pt x="10634473" y="277241"/>
                    <a:pt x="10634473" y="619379"/>
                  </a:cubicBezTo>
                  <a:lnTo>
                    <a:pt x="10634473" y="3096768"/>
                  </a:lnTo>
                  <a:cubicBezTo>
                    <a:pt x="10634473" y="3438779"/>
                    <a:pt x="10357231" y="3716147"/>
                    <a:pt x="10015093" y="3716147"/>
                  </a:cubicBezTo>
                  <a:lnTo>
                    <a:pt x="619379" y="3716147"/>
                  </a:lnTo>
                  <a:cubicBezTo>
                    <a:pt x="277241" y="3716147"/>
                    <a:pt x="0" y="3438779"/>
                    <a:pt x="0" y="3096768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85092" y="2353847"/>
            <a:ext cx="110385" cy="2787101"/>
            <a:chOff x="0" y="0"/>
            <a:chExt cx="147180" cy="37161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7193" cy="3716147"/>
            </a:xfrm>
            <a:custGeom>
              <a:avLst/>
              <a:gdLst/>
              <a:ahLst/>
              <a:cxnLst/>
              <a:rect r="r" b="b" t="t" l="l"/>
              <a:pathLst>
                <a:path h="3716147" w="147193">
                  <a:moveTo>
                    <a:pt x="0" y="24511"/>
                  </a:moveTo>
                  <a:cubicBezTo>
                    <a:pt x="0" y="10922"/>
                    <a:pt x="10922" y="0"/>
                    <a:pt x="24511" y="0"/>
                  </a:cubicBezTo>
                  <a:lnTo>
                    <a:pt x="122682" y="0"/>
                  </a:lnTo>
                  <a:cubicBezTo>
                    <a:pt x="136271" y="0"/>
                    <a:pt x="147193" y="10922"/>
                    <a:pt x="147193" y="24511"/>
                  </a:cubicBezTo>
                  <a:lnTo>
                    <a:pt x="147193" y="3691636"/>
                  </a:lnTo>
                  <a:cubicBezTo>
                    <a:pt x="147193" y="3705225"/>
                    <a:pt x="136271" y="3716147"/>
                    <a:pt x="122682" y="3716147"/>
                  </a:cubicBezTo>
                  <a:lnTo>
                    <a:pt x="24511" y="3716147"/>
                  </a:lnTo>
                  <a:cubicBezTo>
                    <a:pt x="10922" y="3716147"/>
                    <a:pt x="0" y="3705225"/>
                    <a:pt x="0" y="3691636"/>
                  </a:cubicBez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313117" y="2640073"/>
            <a:ext cx="717464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Contexto completo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3117" y="3257769"/>
            <a:ext cx="7174640" cy="163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Combinar pregunta y respuesta mejora la representación frente a usar solo la explicación.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54474" y="2353847"/>
            <a:ext cx="7975797" cy="2787101"/>
            <a:chOff x="0" y="0"/>
            <a:chExt cx="10634396" cy="37161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34473" cy="3716147"/>
            </a:xfrm>
            <a:custGeom>
              <a:avLst/>
              <a:gdLst/>
              <a:ahLst/>
              <a:cxnLst/>
              <a:rect r="r" b="b" t="t" l="l"/>
              <a:pathLst>
                <a:path h="3716147" w="10634473">
                  <a:moveTo>
                    <a:pt x="0" y="619379"/>
                  </a:moveTo>
                  <a:cubicBezTo>
                    <a:pt x="0" y="277241"/>
                    <a:pt x="277241" y="0"/>
                    <a:pt x="619379" y="0"/>
                  </a:cubicBezTo>
                  <a:lnTo>
                    <a:pt x="10015093" y="0"/>
                  </a:lnTo>
                  <a:cubicBezTo>
                    <a:pt x="10357104" y="0"/>
                    <a:pt x="10634473" y="277241"/>
                    <a:pt x="10634473" y="619379"/>
                  </a:cubicBezTo>
                  <a:lnTo>
                    <a:pt x="10634473" y="3096768"/>
                  </a:lnTo>
                  <a:cubicBezTo>
                    <a:pt x="10634473" y="3438779"/>
                    <a:pt x="10357231" y="3716147"/>
                    <a:pt x="10015093" y="3716147"/>
                  </a:cubicBezTo>
                  <a:lnTo>
                    <a:pt x="619379" y="3716147"/>
                  </a:lnTo>
                  <a:cubicBezTo>
                    <a:pt x="277241" y="3716147"/>
                    <a:pt x="0" y="3438779"/>
                    <a:pt x="0" y="3096768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354474" y="2353847"/>
            <a:ext cx="110385" cy="2787101"/>
            <a:chOff x="0" y="0"/>
            <a:chExt cx="147180" cy="37161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7193" cy="3716147"/>
            </a:xfrm>
            <a:custGeom>
              <a:avLst/>
              <a:gdLst/>
              <a:ahLst/>
              <a:cxnLst/>
              <a:rect r="r" b="b" t="t" l="l"/>
              <a:pathLst>
                <a:path h="3716147" w="147193">
                  <a:moveTo>
                    <a:pt x="0" y="24511"/>
                  </a:moveTo>
                  <a:cubicBezTo>
                    <a:pt x="0" y="10922"/>
                    <a:pt x="10922" y="0"/>
                    <a:pt x="24511" y="0"/>
                  </a:cubicBezTo>
                  <a:lnTo>
                    <a:pt x="122682" y="0"/>
                  </a:lnTo>
                  <a:cubicBezTo>
                    <a:pt x="136271" y="0"/>
                    <a:pt x="147193" y="10922"/>
                    <a:pt x="147193" y="24511"/>
                  </a:cubicBezTo>
                  <a:lnTo>
                    <a:pt x="147193" y="3691636"/>
                  </a:lnTo>
                  <a:cubicBezTo>
                    <a:pt x="147193" y="3705225"/>
                    <a:pt x="136271" y="3716147"/>
                    <a:pt x="122682" y="3716147"/>
                  </a:cubicBezTo>
                  <a:lnTo>
                    <a:pt x="24511" y="3716147"/>
                  </a:lnTo>
                  <a:cubicBezTo>
                    <a:pt x="10922" y="3716147"/>
                    <a:pt x="0" y="3705225"/>
                    <a:pt x="0" y="3691636"/>
                  </a:cubicBezTo>
                  <a:close/>
                </a:path>
              </a:pathLst>
            </a:custGeom>
            <a:solidFill>
              <a:srgbClr val="F2B531"/>
            </a:solidFill>
            <a:ln w="14299" cap="sq">
              <a:solidFill>
                <a:srgbClr val="F2B53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782508" y="2640073"/>
            <a:ext cx="717464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Transferencia y aumento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82508" y="3257769"/>
            <a:ext cx="7174640" cy="163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La transferencia ayuda cuando las clases tienen pocos ejemplos y la distribución es desigual.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85092" y="5510994"/>
            <a:ext cx="7975797" cy="2787101"/>
            <a:chOff x="0" y="0"/>
            <a:chExt cx="10634396" cy="371613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34473" cy="3716147"/>
            </a:xfrm>
            <a:custGeom>
              <a:avLst/>
              <a:gdLst/>
              <a:ahLst/>
              <a:cxnLst/>
              <a:rect r="r" b="b" t="t" l="l"/>
              <a:pathLst>
                <a:path h="3716147" w="10634473">
                  <a:moveTo>
                    <a:pt x="0" y="619379"/>
                  </a:moveTo>
                  <a:cubicBezTo>
                    <a:pt x="0" y="277241"/>
                    <a:pt x="277241" y="0"/>
                    <a:pt x="619379" y="0"/>
                  </a:cubicBezTo>
                  <a:lnTo>
                    <a:pt x="10015093" y="0"/>
                  </a:lnTo>
                  <a:cubicBezTo>
                    <a:pt x="10357104" y="0"/>
                    <a:pt x="10634473" y="277241"/>
                    <a:pt x="10634473" y="619379"/>
                  </a:cubicBezTo>
                  <a:lnTo>
                    <a:pt x="10634473" y="3096768"/>
                  </a:lnTo>
                  <a:cubicBezTo>
                    <a:pt x="10634473" y="3438779"/>
                    <a:pt x="10357231" y="3716147"/>
                    <a:pt x="10015093" y="3716147"/>
                  </a:cubicBezTo>
                  <a:lnTo>
                    <a:pt x="619379" y="3716147"/>
                  </a:lnTo>
                  <a:cubicBezTo>
                    <a:pt x="277241" y="3716147"/>
                    <a:pt x="0" y="3438779"/>
                    <a:pt x="0" y="3096768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885092" y="5510994"/>
            <a:ext cx="110385" cy="2787101"/>
            <a:chOff x="0" y="0"/>
            <a:chExt cx="147180" cy="37161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7193" cy="3716147"/>
            </a:xfrm>
            <a:custGeom>
              <a:avLst/>
              <a:gdLst/>
              <a:ahLst/>
              <a:cxnLst/>
              <a:rect r="r" b="b" t="t" l="l"/>
              <a:pathLst>
                <a:path h="3716147" w="147193">
                  <a:moveTo>
                    <a:pt x="0" y="24511"/>
                  </a:moveTo>
                  <a:cubicBezTo>
                    <a:pt x="0" y="10922"/>
                    <a:pt x="10922" y="0"/>
                    <a:pt x="24511" y="0"/>
                  </a:cubicBezTo>
                  <a:lnTo>
                    <a:pt x="122682" y="0"/>
                  </a:lnTo>
                  <a:cubicBezTo>
                    <a:pt x="136271" y="0"/>
                    <a:pt x="147193" y="10922"/>
                    <a:pt x="147193" y="24511"/>
                  </a:cubicBezTo>
                  <a:lnTo>
                    <a:pt x="147193" y="3691636"/>
                  </a:lnTo>
                  <a:cubicBezTo>
                    <a:pt x="147193" y="3705225"/>
                    <a:pt x="136271" y="3716147"/>
                    <a:pt x="122682" y="3716147"/>
                  </a:cubicBezTo>
                  <a:lnTo>
                    <a:pt x="24511" y="3716147"/>
                  </a:lnTo>
                  <a:cubicBezTo>
                    <a:pt x="10922" y="3716147"/>
                    <a:pt x="0" y="3705225"/>
                    <a:pt x="0" y="3691636"/>
                  </a:cubicBezTo>
                  <a:close/>
                </a:path>
              </a:pathLst>
            </a:custGeom>
            <a:solidFill>
              <a:srgbClr val="1F9469"/>
            </a:solidFill>
            <a:ln w="14299" cap="sq">
              <a:solidFill>
                <a:srgbClr val="1F9469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313117" y="5797220"/>
            <a:ext cx="717464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Adaptación de dominio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13117" y="6414916"/>
            <a:ext cx="7174640" cy="163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El preentrenamiento específico puede capturar vocabulario y estructuras educativas.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354474" y="5510994"/>
            <a:ext cx="7975797" cy="2787101"/>
            <a:chOff x="0" y="0"/>
            <a:chExt cx="10634396" cy="371613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34473" cy="3716147"/>
            </a:xfrm>
            <a:custGeom>
              <a:avLst/>
              <a:gdLst/>
              <a:ahLst/>
              <a:cxnLst/>
              <a:rect r="r" b="b" t="t" l="l"/>
              <a:pathLst>
                <a:path h="3716147" w="10634473">
                  <a:moveTo>
                    <a:pt x="0" y="619379"/>
                  </a:moveTo>
                  <a:cubicBezTo>
                    <a:pt x="0" y="277241"/>
                    <a:pt x="277241" y="0"/>
                    <a:pt x="619379" y="0"/>
                  </a:cubicBezTo>
                  <a:lnTo>
                    <a:pt x="10015093" y="0"/>
                  </a:lnTo>
                  <a:cubicBezTo>
                    <a:pt x="10357104" y="0"/>
                    <a:pt x="10634473" y="277241"/>
                    <a:pt x="10634473" y="619379"/>
                  </a:cubicBezTo>
                  <a:lnTo>
                    <a:pt x="10634473" y="3096768"/>
                  </a:lnTo>
                  <a:cubicBezTo>
                    <a:pt x="10634473" y="3438779"/>
                    <a:pt x="10357231" y="3716147"/>
                    <a:pt x="10015093" y="3716147"/>
                  </a:cubicBezTo>
                  <a:lnTo>
                    <a:pt x="619379" y="3716147"/>
                  </a:lnTo>
                  <a:cubicBezTo>
                    <a:pt x="277241" y="3716147"/>
                    <a:pt x="0" y="3438779"/>
                    <a:pt x="0" y="3096768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354474" y="5510994"/>
            <a:ext cx="110385" cy="2787101"/>
            <a:chOff x="0" y="0"/>
            <a:chExt cx="147180" cy="37161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7193" cy="3716147"/>
            </a:xfrm>
            <a:custGeom>
              <a:avLst/>
              <a:gdLst/>
              <a:ahLst/>
              <a:cxnLst/>
              <a:rect r="r" b="b" t="t" l="l"/>
              <a:pathLst>
                <a:path h="3716147" w="147193">
                  <a:moveTo>
                    <a:pt x="0" y="24511"/>
                  </a:moveTo>
                  <a:cubicBezTo>
                    <a:pt x="0" y="10922"/>
                    <a:pt x="10922" y="0"/>
                    <a:pt x="24511" y="0"/>
                  </a:cubicBezTo>
                  <a:lnTo>
                    <a:pt x="122682" y="0"/>
                  </a:lnTo>
                  <a:cubicBezTo>
                    <a:pt x="136271" y="0"/>
                    <a:pt x="147193" y="10922"/>
                    <a:pt x="147193" y="24511"/>
                  </a:cubicBezTo>
                  <a:lnTo>
                    <a:pt x="147193" y="3691636"/>
                  </a:lnTo>
                  <a:cubicBezTo>
                    <a:pt x="147193" y="3705225"/>
                    <a:pt x="136271" y="3716147"/>
                    <a:pt x="122682" y="3716147"/>
                  </a:cubicBezTo>
                  <a:lnTo>
                    <a:pt x="24511" y="3716147"/>
                  </a:lnTo>
                  <a:cubicBezTo>
                    <a:pt x="10922" y="3716147"/>
                    <a:pt x="0" y="3705225"/>
                    <a:pt x="0" y="3691636"/>
                  </a:cubicBezTo>
                  <a:close/>
                </a:path>
              </a:pathLst>
            </a:custGeom>
            <a:solidFill>
              <a:srgbClr val="CA4241"/>
            </a:solidFill>
            <a:ln w="14299" cap="sq">
              <a:solidFill>
                <a:srgbClr val="CA4241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9782508" y="5797220"/>
            <a:ext cx="7174640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Confiabilidad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82508" y="6414916"/>
            <a:ext cx="7174640" cy="163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Calibración, robustez y supervisión humana son requisitos, no detalles posteriores.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26842" y="8638651"/>
            <a:ext cx="15630306" cy="27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Traducción al proyecto: entrada contextual + comparación controlada + resultados desagregados + revisión humana.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572508" y="9644901"/>
            <a:ext cx="8423777" cy="30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Zhang et al. (2020); Bonthu et al. (2023, 2024); Schneider et al. (2023); Filighera et al. (2024)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53" y="-7153"/>
            <a:ext cx="18316137" cy="10309346"/>
            <a:chOff x="0" y="0"/>
            <a:chExt cx="24421516" cy="137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1464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24421464">
                  <a:moveTo>
                    <a:pt x="0" y="0"/>
                  </a:moveTo>
                  <a:lnTo>
                    <a:pt x="24421464" y="0"/>
                  </a:lnTo>
                  <a:lnTo>
                    <a:pt x="24421464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7153" y="-7153"/>
            <a:ext cx="261376" cy="10309346"/>
            <a:chOff x="0" y="0"/>
            <a:chExt cx="348501" cy="13745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488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348488">
                  <a:moveTo>
                    <a:pt x="0" y="0"/>
                  </a:moveTo>
                  <a:lnTo>
                    <a:pt x="348488" y="0"/>
                  </a:lnTo>
                  <a:lnTo>
                    <a:pt x="348488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42499" y="430073"/>
            <a:ext cx="11484835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134A9A"/>
                </a:solidFill>
                <a:latin typeface="Aptos Bold"/>
                <a:ea typeface="Aptos Bold"/>
                <a:cs typeface="Aptos Bold"/>
                <a:sym typeface="Aptos Bold"/>
              </a:rPr>
              <a:t>MODELOS CANDIDATOS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2499" y="906304"/>
            <a:ext cx="16151924" cy="88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Selección preliminar en cuatro niveles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43905" y="1873415"/>
            <a:ext cx="1496787" cy="82934"/>
            <a:chOff x="0" y="0"/>
            <a:chExt cx="1995716" cy="1105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5678" cy="110617"/>
            </a:xfrm>
            <a:custGeom>
              <a:avLst/>
              <a:gdLst/>
              <a:ahLst/>
              <a:cxnLst/>
              <a:rect r="r" b="b" t="t" l="l"/>
              <a:pathLst>
                <a:path h="110617" w="1995678">
                  <a:moveTo>
                    <a:pt x="0" y="0"/>
                  </a:moveTo>
                  <a:lnTo>
                    <a:pt x="1995678" y="0"/>
                  </a:lnTo>
                  <a:lnTo>
                    <a:pt x="1995678" y="110617"/>
                  </a:lnTo>
                  <a:lnTo>
                    <a:pt x="0" y="110617"/>
                  </a:lnTo>
                  <a:close/>
                </a:path>
              </a:pathLst>
            </a:custGeom>
            <a:solidFill>
              <a:srgbClr val="F2B531"/>
            </a:solidFill>
            <a:ln w="14299" cap="sq">
              <a:solidFill>
                <a:srgbClr val="F2B531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6769410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14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81170" y="2285209"/>
            <a:ext cx="16280463" cy="1414424"/>
            <a:chOff x="0" y="0"/>
            <a:chExt cx="21707284" cy="18858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07348" cy="1885950"/>
            </a:xfrm>
            <a:custGeom>
              <a:avLst/>
              <a:gdLst/>
              <a:ahLst/>
              <a:cxnLst/>
              <a:rect r="r" b="b" t="t" l="l"/>
              <a:pathLst>
                <a:path h="1885950" w="21707348">
                  <a:moveTo>
                    <a:pt x="0" y="314325"/>
                  </a:moveTo>
                  <a:cubicBezTo>
                    <a:pt x="0" y="140716"/>
                    <a:pt x="140716" y="0"/>
                    <a:pt x="314325" y="0"/>
                  </a:cubicBezTo>
                  <a:lnTo>
                    <a:pt x="21393023" y="0"/>
                  </a:lnTo>
                  <a:cubicBezTo>
                    <a:pt x="21566632" y="0"/>
                    <a:pt x="21707348" y="140716"/>
                    <a:pt x="21707348" y="314325"/>
                  </a:cubicBezTo>
                  <a:lnTo>
                    <a:pt x="21707348" y="1571625"/>
                  </a:lnTo>
                  <a:cubicBezTo>
                    <a:pt x="21707348" y="1745234"/>
                    <a:pt x="21566632" y="1885950"/>
                    <a:pt x="21393023" y="1885950"/>
                  </a:cubicBezTo>
                  <a:lnTo>
                    <a:pt x="314325" y="1885950"/>
                  </a:lnTo>
                  <a:cubicBezTo>
                    <a:pt x="140716" y="1885950"/>
                    <a:pt x="0" y="1745234"/>
                    <a:pt x="0" y="1571625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81170" y="2285209"/>
            <a:ext cx="2238032" cy="1414424"/>
            <a:chOff x="0" y="0"/>
            <a:chExt cx="2984043" cy="18858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83992" cy="1885950"/>
            </a:xfrm>
            <a:custGeom>
              <a:avLst/>
              <a:gdLst/>
              <a:ahLst/>
              <a:cxnLst/>
              <a:rect r="r" b="b" t="t" l="l"/>
              <a:pathLst>
                <a:path h="1885950" w="2983992">
                  <a:moveTo>
                    <a:pt x="0" y="314325"/>
                  </a:moveTo>
                  <a:cubicBezTo>
                    <a:pt x="0" y="140716"/>
                    <a:pt x="140716" y="0"/>
                    <a:pt x="314325" y="0"/>
                  </a:cubicBezTo>
                  <a:lnTo>
                    <a:pt x="2669667" y="0"/>
                  </a:lnTo>
                  <a:cubicBezTo>
                    <a:pt x="2843276" y="0"/>
                    <a:pt x="2983992" y="140716"/>
                    <a:pt x="2983992" y="314325"/>
                  </a:cubicBezTo>
                  <a:lnTo>
                    <a:pt x="2983992" y="1571625"/>
                  </a:lnTo>
                  <a:cubicBezTo>
                    <a:pt x="2983992" y="1745234"/>
                    <a:pt x="2843276" y="1885950"/>
                    <a:pt x="2669667" y="1885950"/>
                  </a:cubicBezTo>
                  <a:lnTo>
                    <a:pt x="314325" y="1885950"/>
                  </a:lnTo>
                  <a:cubicBezTo>
                    <a:pt x="140716" y="1885950"/>
                    <a:pt x="0" y="1745234"/>
                    <a:pt x="0" y="1571625"/>
                  </a:cubicBez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230754" y="2722436"/>
            <a:ext cx="1738865" cy="334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BASELINE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87842" y="2571436"/>
            <a:ext cx="6611845" cy="36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TF–IDF palabra/carácter + LR/SVM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59028" y="2561911"/>
            <a:ext cx="6268679" cy="645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Costo bajo · referencia interpretable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81170" y="4001052"/>
            <a:ext cx="16280463" cy="1414424"/>
            <a:chOff x="0" y="0"/>
            <a:chExt cx="21707284" cy="18858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707348" cy="1885950"/>
            </a:xfrm>
            <a:custGeom>
              <a:avLst/>
              <a:gdLst/>
              <a:ahLst/>
              <a:cxnLst/>
              <a:rect r="r" b="b" t="t" l="l"/>
              <a:pathLst>
                <a:path h="1885950" w="21707348">
                  <a:moveTo>
                    <a:pt x="0" y="314325"/>
                  </a:moveTo>
                  <a:cubicBezTo>
                    <a:pt x="0" y="140716"/>
                    <a:pt x="140716" y="0"/>
                    <a:pt x="314325" y="0"/>
                  </a:cubicBezTo>
                  <a:lnTo>
                    <a:pt x="21393023" y="0"/>
                  </a:lnTo>
                  <a:cubicBezTo>
                    <a:pt x="21566632" y="0"/>
                    <a:pt x="21707348" y="140716"/>
                    <a:pt x="21707348" y="314325"/>
                  </a:cubicBezTo>
                  <a:lnTo>
                    <a:pt x="21707348" y="1571625"/>
                  </a:lnTo>
                  <a:cubicBezTo>
                    <a:pt x="21707348" y="1745234"/>
                    <a:pt x="21566632" y="1885950"/>
                    <a:pt x="21393023" y="1885950"/>
                  </a:cubicBezTo>
                  <a:lnTo>
                    <a:pt x="314325" y="1885950"/>
                  </a:lnTo>
                  <a:cubicBezTo>
                    <a:pt x="140716" y="1885950"/>
                    <a:pt x="0" y="1745234"/>
                    <a:pt x="0" y="1571625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81170" y="4001052"/>
            <a:ext cx="2238032" cy="1414424"/>
            <a:chOff x="0" y="0"/>
            <a:chExt cx="2984043" cy="18858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83992" cy="1885950"/>
            </a:xfrm>
            <a:custGeom>
              <a:avLst/>
              <a:gdLst/>
              <a:ahLst/>
              <a:cxnLst/>
              <a:rect r="r" b="b" t="t" l="l"/>
              <a:pathLst>
                <a:path h="1885950" w="2983992">
                  <a:moveTo>
                    <a:pt x="0" y="314325"/>
                  </a:moveTo>
                  <a:cubicBezTo>
                    <a:pt x="0" y="140716"/>
                    <a:pt x="140716" y="0"/>
                    <a:pt x="314325" y="0"/>
                  </a:cubicBezTo>
                  <a:lnTo>
                    <a:pt x="2669667" y="0"/>
                  </a:lnTo>
                  <a:cubicBezTo>
                    <a:pt x="2843276" y="0"/>
                    <a:pt x="2983992" y="140716"/>
                    <a:pt x="2983992" y="314325"/>
                  </a:cubicBezTo>
                  <a:lnTo>
                    <a:pt x="2983992" y="1571625"/>
                  </a:lnTo>
                  <a:cubicBezTo>
                    <a:pt x="2983992" y="1745234"/>
                    <a:pt x="2843276" y="1885950"/>
                    <a:pt x="2669667" y="1885950"/>
                  </a:cubicBezTo>
                  <a:lnTo>
                    <a:pt x="314325" y="1885950"/>
                  </a:lnTo>
                  <a:cubicBezTo>
                    <a:pt x="140716" y="1885950"/>
                    <a:pt x="0" y="1745234"/>
                    <a:pt x="0" y="1571625"/>
                  </a:cubicBezTo>
                  <a:close/>
                </a:path>
              </a:pathLst>
            </a:custGeom>
            <a:solidFill>
              <a:srgbClr val="134A9A"/>
            </a:solidFill>
            <a:ln w="14299" cap="sq">
              <a:solidFill>
                <a:srgbClr val="134A9A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230754" y="4438269"/>
            <a:ext cx="1738865" cy="334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PRINCIPAL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687842" y="4287279"/>
            <a:ext cx="6611845" cy="36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DeBERTa-v3-base o BERT/RoBERTa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59028" y="4277754"/>
            <a:ext cx="6268679" cy="645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Pregunta + opción + explicación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81170" y="5716895"/>
            <a:ext cx="16280463" cy="1414424"/>
            <a:chOff x="0" y="0"/>
            <a:chExt cx="21707284" cy="188589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707348" cy="1885950"/>
            </a:xfrm>
            <a:custGeom>
              <a:avLst/>
              <a:gdLst/>
              <a:ahLst/>
              <a:cxnLst/>
              <a:rect r="r" b="b" t="t" l="l"/>
              <a:pathLst>
                <a:path h="1885950" w="21707348">
                  <a:moveTo>
                    <a:pt x="0" y="314325"/>
                  </a:moveTo>
                  <a:cubicBezTo>
                    <a:pt x="0" y="140716"/>
                    <a:pt x="140716" y="0"/>
                    <a:pt x="314325" y="0"/>
                  </a:cubicBezTo>
                  <a:lnTo>
                    <a:pt x="21393023" y="0"/>
                  </a:lnTo>
                  <a:cubicBezTo>
                    <a:pt x="21566632" y="0"/>
                    <a:pt x="21707348" y="140716"/>
                    <a:pt x="21707348" y="314325"/>
                  </a:cubicBezTo>
                  <a:lnTo>
                    <a:pt x="21707348" y="1571625"/>
                  </a:lnTo>
                  <a:cubicBezTo>
                    <a:pt x="21707348" y="1745234"/>
                    <a:pt x="21566632" y="1885950"/>
                    <a:pt x="21393023" y="1885950"/>
                  </a:cubicBezTo>
                  <a:lnTo>
                    <a:pt x="314325" y="1885950"/>
                  </a:lnTo>
                  <a:cubicBezTo>
                    <a:pt x="140716" y="1885950"/>
                    <a:pt x="0" y="1745234"/>
                    <a:pt x="0" y="1571625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81170" y="5716895"/>
            <a:ext cx="2238032" cy="1414424"/>
            <a:chOff x="0" y="0"/>
            <a:chExt cx="2984043" cy="188589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983992" cy="1885950"/>
            </a:xfrm>
            <a:custGeom>
              <a:avLst/>
              <a:gdLst/>
              <a:ahLst/>
              <a:cxnLst/>
              <a:rect r="r" b="b" t="t" l="l"/>
              <a:pathLst>
                <a:path h="1885950" w="2983992">
                  <a:moveTo>
                    <a:pt x="0" y="314325"/>
                  </a:moveTo>
                  <a:cubicBezTo>
                    <a:pt x="0" y="140716"/>
                    <a:pt x="140716" y="0"/>
                    <a:pt x="314325" y="0"/>
                  </a:cubicBezTo>
                  <a:lnTo>
                    <a:pt x="2669667" y="0"/>
                  </a:lnTo>
                  <a:cubicBezTo>
                    <a:pt x="2843276" y="0"/>
                    <a:pt x="2983992" y="140716"/>
                    <a:pt x="2983992" y="314325"/>
                  </a:cubicBezTo>
                  <a:lnTo>
                    <a:pt x="2983992" y="1571625"/>
                  </a:lnTo>
                  <a:cubicBezTo>
                    <a:pt x="2983992" y="1745234"/>
                    <a:pt x="2843276" y="1885950"/>
                    <a:pt x="2669667" y="1885950"/>
                  </a:cubicBezTo>
                  <a:lnTo>
                    <a:pt x="314325" y="1885950"/>
                  </a:lnTo>
                  <a:cubicBezTo>
                    <a:pt x="140716" y="1885950"/>
                    <a:pt x="0" y="1745234"/>
                    <a:pt x="0" y="1571625"/>
                  </a:cubicBezTo>
                  <a:close/>
                </a:path>
              </a:pathLst>
            </a:custGeom>
            <a:solidFill>
              <a:srgbClr val="F2B531"/>
            </a:solidFill>
            <a:ln w="14299" cap="sq">
              <a:solidFill>
                <a:srgbClr val="F2B531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30754" y="6154112"/>
            <a:ext cx="1738865" cy="334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DOMINIO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687842" y="6003122"/>
            <a:ext cx="6611845" cy="36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MathBERT o preentrenamiento continuado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359028" y="5993597"/>
            <a:ext cx="6268679" cy="645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Solo si mejora clases raras y preguntas nuevas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81170" y="7432738"/>
            <a:ext cx="16280463" cy="1414424"/>
            <a:chOff x="0" y="0"/>
            <a:chExt cx="21707284" cy="188589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707348" cy="1885950"/>
            </a:xfrm>
            <a:custGeom>
              <a:avLst/>
              <a:gdLst/>
              <a:ahLst/>
              <a:cxnLst/>
              <a:rect r="r" b="b" t="t" l="l"/>
              <a:pathLst>
                <a:path h="1885950" w="21707348">
                  <a:moveTo>
                    <a:pt x="0" y="314325"/>
                  </a:moveTo>
                  <a:cubicBezTo>
                    <a:pt x="0" y="140716"/>
                    <a:pt x="140716" y="0"/>
                    <a:pt x="314325" y="0"/>
                  </a:cubicBezTo>
                  <a:lnTo>
                    <a:pt x="21393023" y="0"/>
                  </a:lnTo>
                  <a:cubicBezTo>
                    <a:pt x="21566632" y="0"/>
                    <a:pt x="21707348" y="140716"/>
                    <a:pt x="21707348" y="314325"/>
                  </a:cubicBezTo>
                  <a:lnTo>
                    <a:pt x="21707348" y="1571625"/>
                  </a:lnTo>
                  <a:cubicBezTo>
                    <a:pt x="21707348" y="1745234"/>
                    <a:pt x="21566632" y="1885950"/>
                    <a:pt x="21393023" y="1885950"/>
                  </a:cubicBezTo>
                  <a:lnTo>
                    <a:pt x="314325" y="1885950"/>
                  </a:lnTo>
                  <a:cubicBezTo>
                    <a:pt x="140716" y="1885950"/>
                    <a:pt x="0" y="1745234"/>
                    <a:pt x="0" y="1571625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81170" y="7432738"/>
            <a:ext cx="2238032" cy="1414424"/>
            <a:chOff x="0" y="0"/>
            <a:chExt cx="2984043" cy="188589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983992" cy="1885950"/>
            </a:xfrm>
            <a:custGeom>
              <a:avLst/>
              <a:gdLst/>
              <a:ahLst/>
              <a:cxnLst/>
              <a:rect r="r" b="b" t="t" l="l"/>
              <a:pathLst>
                <a:path h="1885950" w="2983992">
                  <a:moveTo>
                    <a:pt x="0" y="314325"/>
                  </a:moveTo>
                  <a:cubicBezTo>
                    <a:pt x="0" y="140716"/>
                    <a:pt x="140716" y="0"/>
                    <a:pt x="314325" y="0"/>
                  </a:cubicBezTo>
                  <a:lnTo>
                    <a:pt x="2669667" y="0"/>
                  </a:lnTo>
                  <a:cubicBezTo>
                    <a:pt x="2843276" y="0"/>
                    <a:pt x="2983992" y="140716"/>
                    <a:pt x="2983992" y="314325"/>
                  </a:cubicBezTo>
                  <a:lnTo>
                    <a:pt x="2983992" y="1571625"/>
                  </a:lnTo>
                  <a:cubicBezTo>
                    <a:pt x="2983992" y="1745234"/>
                    <a:pt x="2843276" y="1885950"/>
                    <a:pt x="2669667" y="1885950"/>
                  </a:cubicBezTo>
                  <a:lnTo>
                    <a:pt x="314325" y="1885950"/>
                  </a:lnTo>
                  <a:cubicBezTo>
                    <a:pt x="140716" y="1885950"/>
                    <a:pt x="0" y="1745234"/>
                    <a:pt x="0" y="1571625"/>
                  </a:cubicBezTo>
                  <a:close/>
                </a:path>
              </a:pathLst>
            </a:custGeom>
            <a:solidFill>
              <a:srgbClr val="1F9469"/>
            </a:solidFill>
            <a:ln w="14299" cap="sq">
              <a:solidFill>
                <a:srgbClr val="1F9469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230754" y="7869955"/>
            <a:ext cx="1738865" cy="334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SALIDA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87842" y="7718955"/>
            <a:ext cx="6611845" cy="36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Ensamble calibrado y ranking top-3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359028" y="7709430"/>
            <a:ext cx="6268679" cy="645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Optimizar MAP@3 sin ocultar incertidumbre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99391" y="9215171"/>
            <a:ext cx="15602855" cy="238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Selección final por: generalización · clases raras · calibración · costo computacional · interpretabilidad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572508" y="9644901"/>
            <a:ext cx="8423777" cy="30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Sahu &amp; Bhowmick (2020); Zhu et al. (2022); del Gobbo et al. (2023)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53" y="-7153"/>
            <a:ext cx="18316137" cy="10309346"/>
            <a:chOff x="0" y="0"/>
            <a:chExt cx="24421516" cy="137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1464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24421464">
                  <a:moveTo>
                    <a:pt x="0" y="0"/>
                  </a:moveTo>
                  <a:lnTo>
                    <a:pt x="24421464" y="0"/>
                  </a:lnTo>
                  <a:lnTo>
                    <a:pt x="24421464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7153" y="-7153"/>
            <a:ext cx="261376" cy="10309346"/>
            <a:chOff x="0" y="0"/>
            <a:chExt cx="348501" cy="13745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488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348488">
                  <a:moveTo>
                    <a:pt x="0" y="0"/>
                  </a:moveTo>
                  <a:lnTo>
                    <a:pt x="348488" y="0"/>
                  </a:lnTo>
                  <a:lnTo>
                    <a:pt x="348488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42499" y="430073"/>
            <a:ext cx="11484835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134A9A"/>
                </a:solidFill>
                <a:latin typeface="Aptos Bold"/>
                <a:ea typeface="Aptos Bold"/>
                <a:cs typeface="Aptos Bold"/>
                <a:sym typeface="Aptos Bold"/>
              </a:rPr>
              <a:t>PLAN EXPERIMENTAL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2499" y="906304"/>
            <a:ext cx="16151924" cy="88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Un protocolo que separa desempeño y generalización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43905" y="1873415"/>
            <a:ext cx="1496787" cy="82934"/>
            <a:chOff x="0" y="0"/>
            <a:chExt cx="1995716" cy="1105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5678" cy="110617"/>
            </a:xfrm>
            <a:custGeom>
              <a:avLst/>
              <a:gdLst/>
              <a:ahLst/>
              <a:cxnLst/>
              <a:rect r="r" b="b" t="t" l="l"/>
              <a:pathLst>
                <a:path h="110617" w="1995678">
                  <a:moveTo>
                    <a:pt x="0" y="0"/>
                  </a:moveTo>
                  <a:lnTo>
                    <a:pt x="1995678" y="0"/>
                  </a:lnTo>
                  <a:lnTo>
                    <a:pt x="1995678" y="110617"/>
                  </a:lnTo>
                  <a:lnTo>
                    <a:pt x="0" y="110617"/>
                  </a:lnTo>
                  <a:close/>
                </a:path>
              </a:pathLst>
            </a:custGeom>
            <a:solidFill>
              <a:srgbClr val="F2B531"/>
            </a:solidFill>
            <a:ln w="14299" cap="sq">
              <a:solidFill>
                <a:srgbClr val="F2B531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6769410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15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71357" y="2326396"/>
            <a:ext cx="5230454" cy="6438405"/>
            <a:chOff x="0" y="0"/>
            <a:chExt cx="6973938" cy="85845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73951" cy="8584438"/>
            </a:xfrm>
            <a:custGeom>
              <a:avLst/>
              <a:gdLst/>
              <a:ahLst/>
              <a:cxnLst/>
              <a:rect r="r" b="b" t="t" l="l"/>
              <a:pathLst>
                <a:path h="8584438" w="6973951">
                  <a:moveTo>
                    <a:pt x="0" y="1162304"/>
                  </a:moveTo>
                  <a:cubicBezTo>
                    <a:pt x="0" y="520446"/>
                    <a:pt x="520446" y="0"/>
                    <a:pt x="1162304" y="0"/>
                  </a:cubicBezTo>
                  <a:lnTo>
                    <a:pt x="5811647" y="0"/>
                  </a:lnTo>
                  <a:cubicBezTo>
                    <a:pt x="6453632" y="0"/>
                    <a:pt x="6973951" y="520446"/>
                    <a:pt x="6973951" y="1162304"/>
                  </a:cubicBezTo>
                  <a:lnTo>
                    <a:pt x="6973951" y="7422134"/>
                  </a:lnTo>
                  <a:cubicBezTo>
                    <a:pt x="6973951" y="8064119"/>
                    <a:pt x="6453505" y="8584438"/>
                    <a:pt x="5811647" y="8584438"/>
                  </a:cubicBezTo>
                  <a:lnTo>
                    <a:pt x="1162304" y="8584438"/>
                  </a:lnTo>
                  <a:cubicBezTo>
                    <a:pt x="520446" y="8584565"/>
                    <a:pt x="0" y="8064119"/>
                    <a:pt x="0" y="7422134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71357" y="2326396"/>
            <a:ext cx="110385" cy="6438405"/>
            <a:chOff x="0" y="0"/>
            <a:chExt cx="147180" cy="85845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7193" cy="8584565"/>
            </a:xfrm>
            <a:custGeom>
              <a:avLst/>
              <a:gdLst/>
              <a:ahLst/>
              <a:cxnLst/>
              <a:rect r="r" b="b" t="t" l="l"/>
              <a:pathLst>
                <a:path h="8584565" w="147193">
                  <a:moveTo>
                    <a:pt x="0" y="24511"/>
                  </a:moveTo>
                  <a:cubicBezTo>
                    <a:pt x="0" y="10922"/>
                    <a:pt x="10922" y="0"/>
                    <a:pt x="24511" y="0"/>
                  </a:cubicBezTo>
                  <a:lnTo>
                    <a:pt x="122682" y="0"/>
                  </a:lnTo>
                  <a:cubicBezTo>
                    <a:pt x="136271" y="0"/>
                    <a:pt x="147193" y="10922"/>
                    <a:pt x="147193" y="24511"/>
                  </a:cubicBezTo>
                  <a:lnTo>
                    <a:pt x="147193" y="8560054"/>
                  </a:lnTo>
                  <a:cubicBezTo>
                    <a:pt x="147193" y="8573643"/>
                    <a:pt x="136271" y="8584565"/>
                    <a:pt x="122682" y="8584565"/>
                  </a:cubicBezTo>
                  <a:lnTo>
                    <a:pt x="24511" y="8584565"/>
                  </a:lnTo>
                  <a:cubicBezTo>
                    <a:pt x="10922" y="8584565"/>
                    <a:pt x="0" y="8573643"/>
                    <a:pt x="0" y="8560054"/>
                  </a:cubicBez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299391" y="2612622"/>
            <a:ext cx="442929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Validación 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9391" y="3230318"/>
            <a:ext cx="4429296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82"/>
              </a:lnSpc>
            </a:pPr>
            <a:r>
              <a:rPr lang="en-US" sz="24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StratifiedKFold por etiqueta compuesta, con duplicados agrupados. </a:t>
            </a:r>
          </a:p>
          <a:p>
            <a:pPr algn="just">
              <a:lnSpc>
                <a:spcPts val="2882"/>
              </a:lnSpc>
            </a:pPr>
          </a:p>
          <a:p>
            <a:pPr algn="just">
              <a:lnSpc>
                <a:spcPts val="2882"/>
              </a:lnSpc>
            </a:pPr>
            <a:r>
              <a:rPr lang="en-US" sz="24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“</a:t>
            </a:r>
            <a:r>
              <a:rPr lang="en-US" sz="2401" i="true">
                <a:solidFill>
                  <a:srgbClr val="58687C"/>
                </a:solidFill>
                <a:latin typeface="Aptos Italics"/>
                <a:ea typeface="Aptos Italics"/>
                <a:cs typeface="Aptos Italics"/>
                <a:sym typeface="Aptos Italics"/>
              </a:rPr>
              <a:t>¿Funciona con nuevas respuestas a preguntas conocidas?</a:t>
            </a:r>
            <a:r>
              <a:rPr lang="en-US" sz="24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”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40494" y="2326396"/>
            <a:ext cx="5230454" cy="6438405"/>
            <a:chOff x="0" y="0"/>
            <a:chExt cx="6973938" cy="85845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73951" cy="8584438"/>
            </a:xfrm>
            <a:custGeom>
              <a:avLst/>
              <a:gdLst/>
              <a:ahLst/>
              <a:cxnLst/>
              <a:rect r="r" b="b" t="t" l="l"/>
              <a:pathLst>
                <a:path h="8584438" w="6973951">
                  <a:moveTo>
                    <a:pt x="0" y="1162304"/>
                  </a:moveTo>
                  <a:cubicBezTo>
                    <a:pt x="0" y="520446"/>
                    <a:pt x="520446" y="0"/>
                    <a:pt x="1162304" y="0"/>
                  </a:cubicBezTo>
                  <a:lnTo>
                    <a:pt x="5811647" y="0"/>
                  </a:lnTo>
                  <a:cubicBezTo>
                    <a:pt x="6453632" y="0"/>
                    <a:pt x="6973951" y="520446"/>
                    <a:pt x="6973951" y="1162304"/>
                  </a:cubicBezTo>
                  <a:lnTo>
                    <a:pt x="6973951" y="7422134"/>
                  </a:lnTo>
                  <a:cubicBezTo>
                    <a:pt x="6973951" y="8064119"/>
                    <a:pt x="6453505" y="8584438"/>
                    <a:pt x="5811647" y="8584438"/>
                  </a:cubicBezTo>
                  <a:lnTo>
                    <a:pt x="1162304" y="8584438"/>
                  </a:lnTo>
                  <a:cubicBezTo>
                    <a:pt x="520446" y="8584565"/>
                    <a:pt x="0" y="8064119"/>
                    <a:pt x="0" y="7422134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540494" y="2326396"/>
            <a:ext cx="110385" cy="6438405"/>
            <a:chOff x="0" y="0"/>
            <a:chExt cx="147180" cy="85845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7193" cy="8584565"/>
            </a:xfrm>
            <a:custGeom>
              <a:avLst/>
              <a:gdLst/>
              <a:ahLst/>
              <a:cxnLst/>
              <a:rect r="r" b="b" t="t" l="l"/>
              <a:pathLst>
                <a:path h="8584565" w="147193">
                  <a:moveTo>
                    <a:pt x="0" y="24511"/>
                  </a:moveTo>
                  <a:cubicBezTo>
                    <a:pt x="0" y="10922"/>
                    <a:pt x="10922" y="0"/>
                    <a:pt x="24511" y="0"/>
                  </a:cubicBezTo>
                  <a:lnTo>
                    <a:pt x="122682" y="0"/>
                  </a:lnTo>
                  <a:cubicBezTo>
                    <a:pt x="136271" y="0"/>
                    <a:pt x="147193" y="10922"/>
                    <a:pt x="147193" y="24511"/>
                  </a:cubicBezTo>
                  <a:lnTo>
                    <a:pt x="147193" y="8560054"/>
                  </a:lnTo>
                  <a:cubicBezTo>
                    <a:pt x="147193" y="8573643"/>
                    <a:pt x="136271" y="8584565"/>
                    <a:pt x="122682" y="8584565"/>
                  </a:cubicBezTo>
                  <a:lnTo>
                    <a:pt x="24511" y="8584565"/>
                  </a:lnTo>
                  <a:cubicBezTo>
                    <a:pt x="10922" y="8584565"/>
                    <a:pt x="0" y="8573643"/>
                    <a:pt x="0" y="8560054"/>
                  </a:cubicBezTo>
                  <a:close/>
                </a:path>
              </a:pathLst>
            </a:custGeom>
            <a:solidFill>
              <a:srgbClr val="F2B531"/>
            </a:solidFill>
            <a:ln w="14299" cap="sq">
              <a:solidFill>
                <a:srgbClr val="F2B531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6968528" y="2612622"/>
            <a:ext cx="442929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Validación B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68528" y="3230318"/>
            <a:ext cx="4429296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82"/>
              </a:lnSpc>
            </a:pPr>
            <a:r>
              <a:rPr lang="en-US" sz="24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GroupKFold por QuestionId. </a:t>
            </a:r>
          </a:p>
          <a:p>
            <a:pPr algn="just">
              <a:lnSpc>
                <a:spcPts val="2882"/>
              </a:lnSpc>
            </a:pPr>
          </a:p>
          <a:p>
            <a:pPr algn="just">
              <a:lnSpc>
                <a:spcPts val="2882"/>
              </a:lnSpc>
            </a:pPr>
            <a:r>
              <a:rPr lang="en-US" sz="24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“</a:t>
            </a:r>
            <a:r>
              <a:rPr lang="en-US" sz="2401" i="true">
                <a:solidFill>
                  <a:srgbClr val="58687C"/>
                </a:solidFill>
                <a:latin typeface="Aptos Italics"/>
                <a:ea typeface="Aptos Italics"/>
                <a:cs typeface="Aptos Italics"/>
                <a:sym typeface="Aptos Italics"/>
              </a:rPr>
              <a:t>¿Transfiere a preguntas no vistas sin memorizar el identificador?</a:t>
            </a:r>
            <a:r>
              <a:rPr lang="en-US" sz="24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”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209631" y="2326396"/>
            <a:ext cx="5230454" cy="6438405"/>
            <a:chOff x="0" y="0"/>
            <a:chExt cx="6973938" cy="85845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73951" cy="8584438"/>
            </a:xfrm>
            <a:custGeom>
              <a:avLst/>
              <a:gdLst/>
              <a:ahLst/>
              <a:cxnLst/>
              <a:rect r="r" b="b" t="t" l="l"/>
              <a:pathLst>
                <a:path h="8584438" w="6973951">
                  <a:moveTo>
                    <a:pt x="0" y="1162304"/>
                  </a:moveTo>
                  <a:cubicBezTo>
                    <a:pt x="0" y="520446"/>
                    <a:pt x="520446" y="0"/>
                    <a:pt x="1162304" y="0"/>
                  </a:cubicBezTo>
                  <a:lnTo>
                    <a:pt x="5811647" y="0"/>
                  </a:lnTo>
                  <a:cubicBezTo>
                    <a:pt x="6453632" y="0"/>
                    <a:pt x="6973951" y="520446"/>
                    <a:pt x="6973951" y="1162304"/>
                  </a:cubicBezTo>
                  <a:lnTo>
                    <a:pt x="6973951" y="7422134"/>
                  </a:lnTo>
                  <a:cubicBezTo>
                    <a:pt x="6973951" y="8064119"/>
                    <a:pt x="6453505" y="8584438"/>
                    <a:pt x="5811647" y="8584438"/>
                  </a:cubicBezTo>
                  <a:lnTo>
                    <a:pt x="1162304" y="8584438"/>
                  </a:lnTo>
                  <a:cubicBezTo>
                    <a:pt x="520446" y="8584565"/>
                    <a:pt x="0" y="8064119"/>
                    <a:pt x="0" y="7422134"/>
                  </a:cubicBezTo>
                  <a:close/>
                </a:path>
              </a:pathLst>
            </a:custGeom>
            <a:solidFill>
              <a:srgbClr val="F2F7FC"/>
            </a:solidFill>
            <a:ln w="14299" cap="sq">
              <a:solidFill>
                <a:srgbClr val="D6E1ED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209631" y="2326396"/>
            <a:ext cx="110385" cy="6438405"/>
            <a:chOff x="0" y="0"/>
            <a:chExt cx="147180" cy="85845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7193" cy="8584565"/>
            </a:xfrm>
            <a:custGeom>
              <a:avLst/>
              <a:gdLst/>
              <a:ahLst/>
              <a:cxnLst/>
              <a:rect r="r" b="b" t="t" l="l"/>
              <a:pathLst>
                <a:path h="8584565" w="147193">
                  <a:moveTo>
                    <a:pt x="0" y="24511"/>
                  </a:moveTo>
                  <a:cubicBezTo>
                    <a:pt x="0" y="10922"/>
                    <a:pt x="10922" y="0"/>
                    <a:pt x="24511" y="0"/>
                  </a:cubicBezTo>
                  <a:lnTo>
                    <a:pt x="122682" y="0"/>
                  </a:lnTo>
                  <a:cubicBezTo>
                    <a:pt x="136271" y="0"/>
                    <a:pt x="147193" y="10922"/>
                    <a:pt x="147193" y="24511"/>
                  </a:cubicBezTo>
                  <a:lnTo>
                    <a:pt x="147193" y="8560054"/>
                  </a:lnTo>
                  <a:cubicBezTo>
                    <a:pt x="147193" y="8573643"/>
                    <a:pt x="136271" y="8584565"/>
                    <a:pt x="122682" y="8584565"/>
                  </a:cubicBezTo>
                  <a:lnTo>
                    <a:pt x="24511" y="8584565"/>
                  </a:lnTo>
                  <a:cubicBezTo>
                    <a:pt x="10922" y="8584565"/>
                    <a:pt x="0" y="8573643"/>
                    <a:pt x="0" y="8560054"/>
                  </a:cubicBezTo>
                  <a:close/>
                </a:path>
              </a:pathLst>
            </a:custGeom>
            <a:solidFill>
              <a:srgbClr val="1F9469"/>
            </a:solidFill>
            <a:ln w="14299" cap="sq">
              <a:solidFill>
                <a:srgbClr val="1F9469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2637665" y="2612622"/>
            <a:ext cx="442929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Métricas y ablaciones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637665" y="3230318"/>
            <a:ext cx="4429296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82"/>
              </a:lnSpc>
            </a:pPr>
            <a:r>
              <a:rPr lang="en-US" sz="24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MAP@3, macro F1, calibración y resultados por clase/pregunta. </a:t>
            </a:r>
          </a:p>
          <a:p>
            <a:pPr algn="just">
              <a:lnSpc>
                <a:spcPts val="2882"/>
              </a:lnSpc>
            </a:pPr>
          </a:p>
          <a:p>
            <a:pPr algn="l" marL="518565" indent="-259282" lvl="1">
              <a:lnSpc>
                <a:spcPts val="2882"/>
              </a:lnSpc>
              <a:buFont typeface="Arial"/>
              <a:buChar char="•"/>
            </a:pPr>
            <a:r>
              <a:rPr lang="en-US" sz="24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Comparar texto solo</a:t>
            </a:r>
          </a:p>
          <a:p>
            <a:pPr algn="l" marL="518565" indent="-259282" lvl="1">
              <a:lnSpc>
                <a:spcPts val="2882"/>
              </a:lnSpc>
              <a:buFont typeface="Arial"/>
              <a:buChar char="•"/>
            </a:pPr>
            <a:r>
              <a:rPr lang="en-US" sz="24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Texto + pregunta</a:t>
            </a:r>
          </a:p>
          <a:p>
            <a:pPr algn="l" marL="518565" indent="-259282" lvl="1">
              <a:lnSpc>
                <a:spcPts val="2882"/>
              </a:lnSpc>
              <a:buFont typeface="Arial"/>
              <a:buChar char="•"/>
            </a:pPr>
            <a:r>
              <a:rPr lang="en-US" sz="24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T</a:t>
            </a:r>
            <a:r>
              <a:rPr lang="en-US" sz="24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exto + pregunta + opción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03413" y="9111844"/>
            <a:ext cx="1226343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Secuencia: baseline → Transformer → adaptación de dominio → ensamble; mismas particiones y semillas comparables.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53" y="-7153"/>
            <a:ext cx="18316137" cy="10309346"/>
            <a:chOff x="0" y="0"/>
            <a:chExt cx="24421516" cy="137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1464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24421464">
                  <a:moveTo>
                    <a:pt x="0" y="0"/>
                  </a:moveTo>
                  <a:lnTo>
                    <a:pt x="24421464" y="0"/>
                  </a:lnTo>
                  <a:lnTo>
                    <a:pt x="24421464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595515" y="2438619"/>
            <a:ext cx="5096970" cy="3086100"/>
            <a:chOff x="0" y="0"/>
            <a:chExt cx="1342412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2412" cy="812800"/>
            </a:xfrm>
            <a:custGeom>
              <a:avLst/>
              <a:gdLst/>
              <a:ahLst/>
              <a:cxnLst/>
              <a:rect r="r" b="b" t="t" l="l"/>
              <a:pathLst>
                <a:path h="812800" w="1342412">
                  <a:moveTo>
                    <a:pt x="0" y="0"/>
                  </a:moveTo>
                  <a:lnTo>
                    <a:pt x="1342412" y="0"/>
                  </a:lnTo>
                  <a:lnTo>
                    <a:pt x="134241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342412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7153" y="-7153"/>
            <a:ext cx="261376" cy="10309346"/>
            <a:chOff x="0" y="0"/>
            <a:chExt cx="348501" cy="137457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8488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348488">
                  <a:moveTo>
                    <a:pt x="0" y="0"/>
                  </a:moveTo>
                  <a:lnTo>
                    <a:pt x="348488" y="0"/>
                  </a:lnTo>
                  <a:lnTo>
                    <a:pt x="348488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43905" y="1873415"/>
            <a:ext cx="1496787" cy="82934"/>
            <a:chOff x="0" y="0"/>
            <a:chExt cx="1995716" cy="1105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95678" cy="110617"/>
            </a:xfrm>
            <a:custGeom>
              <a:avLst/>
              <a:gdLst/>
              <a:ahLst/>
              <a:cxnLst/>
              <a:rect r="r" b="b" t="t" l="l"/>
              <a:pathLst>
                <a:path h="110617" w="1995678">
                  <a:moveTo>
                    <a:pt x="0" y="0"/>
                  </a:moveTo>
                  <a:lnTo>
                    <a:pt x="1995678" y="0"/>
                  </a:lnTo>
                  <a:lnTo>
                    <a:pt x="1995678" y="110617"/>
                  </a:lnTo>
                  <a:lnTo>
                    <a:pt x="0" y="110617"/>
                  </a:lnTo>
                  <a:close/>
                </a:path>
              </a:pathLst>
            </a:custGeom>
            <a:solidFill>
              <a:srgbClr val="F2B531"/>
            </a:solidFill>
            <a:ln w="14299" cap="sq">
              <a:solidFill>
                <a:srgbClr val="F2B531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2438619"/>
            <a:ext cx="5096970" cy="3086100"/>
            <a:chOff x="0" y="0"/>
            <a:chExt cx="1342412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2412" cy="812800"/>
            </a:xfrm>
            <a:custGeom>
              <a:avLst/>
              <a:gdLst/>
              <a:ahLst/>
              <a:cxnLst/>
              <a:rect r="r" b="b" t="t" l="l"/>
              <a:pathLst>
                <a:path h="812800" w="1342412">
                  <a:moveTo>
                    <a:pt x="0" y="0"/>
                  </a:moveTo>
                  <a:lnTo>
                    <a:pt x="1342412" y="0"/>
                  </a:lnTo>
                  <a:lnTo>
                    <a:pt x="134241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342412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42499" y="430073"/>
            <a:ext cx="11484835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134A9A"/>
                </a:solidFill>
                <a:latin typeface="Aptos Bold"/>
                <a:ea typeface="Aptos Bold"/>
                <a:cs typeface="Aptos Bold"/>
                <a:sym typeface="Aptos Bold"/>
              </a:rPr>
              <a:t>RIESGOS, ÉTICA Y REPRODUCIBILIDAD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2499" y="906304"/>
            <a:ext cx="16151924" cy="88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Confiabilidad antes de automatización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69410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16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9391" y="2640073"/>
            <a:ext cx="442929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Sesgo y cola larga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9391" y="3257769"/>
            <a:ext cx="4429296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82"/>
              </a:lnSpc>
            </a:pPr>
            <a:r>
              <a:rPr lang="en-US" sz="24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Las clases frecuentes pueden dominar. Reportar macro F1, errores por clase y umbrales de abstención.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68528" y="2640073"/>
            <a:ext cx="442929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Atajos y robustez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68528" y="3257769"/>
            <a:ext cx="4429296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82"/>
              </a:lnSpc>
            </a:pPr>
            <a:r>
              <a:rPr lang="en-US" sz="24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Controlar fuga por pregunta, probar perturbaciones inocuas y revisar sensibilidad a números, signos y negaciones.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427334" y="2438619"/>
            <a:ext cx="5096970" cy="3086100"/>
            <a:chOff x="0" y="0"/>
            <a:chExt cx="1342412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42412" cy="812800"/>
            </a:xfrm>
            <a:custGeom>
              <a:avLst/>
              <a:gdLst/>
              <a:ahLst/>
              <a:cxnLst/>
              <a:rect r="r" b="b" t="t" l="l"/>
              <a:pathLst>
                <a:path h="812800" w="1342412">
                  <a:moveTo>
                    <a:pt x="0" y="0"/>
                  </a:moveTo>
                  <a:lnTo>
                    <a:pt x="1342412" y="0"/>
                  </a:lnTo>
                  <a:lnTo>
                    <a:pt x="134241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342412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1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637665" y="2640073"/>
            <a:ext cx="442929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Uso responsable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37665" y="3257769"/>
            <a:ext cx="4429296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82"/>
              </a:lnSpc>
            </a:pPr>
            <a:r>
              <a:rPr lang="en-US" sz="240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Apoyo para priorizar revision no calificacion autonoma. Conservar semillas y versiones.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2499" y="9089988"/>
            <a:ext cx="7938731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Si la incertidumbre es alta, el sistema se abstiene y deriva el caso al docente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72508" y="9644901"/>
            <a:ext cx="8423777" cy="30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31"/>
              </a:lnSpc>
            </a:pPr>
            <a:r>
              <a:rPr lang="en-US" sz="1275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Schneider et al. (2023); Filighera et al. (2024); Grévisse (2024)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53" y="-7153"/>
            <a:ext cx="18316137" cy="10309346"/>
            <a:chOff x="0" y="0"/>
            <a:chExt cx="24421516" cy="137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1464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24421464">
                  <a:moveTo>
                    <a:pt x="0" y="0"/>
                  </a:moveTo>
                  <a:lnTo>
                    <a:pt x="24421464" y="0"/>
                  </a:lnTo>
                  <a:lnTo>
                    <a:pt x="24421464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081B34"/>
            </a:solidFill>
            <a:ln w="14299" cap="sq">
              <a:solidFill>
                <a:srgbClr val="081B3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7153" y="-7153"/>
            <a:ext cx="261376" cy="10309346"/>
            <a:chOff x="0" y="0"/>
            <a:chExt cx="348501" cy="13745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488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348488">
                  <a:moveTo>
                    <a:pt x="0" y="0"/>
                  </a:moveTo>
                  <a:lnTo>
                    <a:pt x="348488" y="0"/>
                  </a:lnTo>
                  <a:lnTo>
                    <a:pt x="348488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42499" y="430073"/>
            <a:ext cx="11484835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B1CFE8"/>
                </a:solidFill>
                <a:latin typeface="Aptos Bold"/>
                <a:ea typeface="Aptos Bold"/>
                <a:cs typeface="Aptos Bold"/>
                <a:sym typeface="Aptos Bold"/>
              </a:rPr>
              <a:t>CONCLUSIONES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2499" y="906304"/>
            <a:ext cx="16151924" cy="88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Lo que ya sabemos y lo que sigue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43905" y="1873415"/>
            <a:ext cx="1496787" cy="82934"/>
            <a:chOff x="0" y="0"/>
            <a:chExt cx="1995716" cy="1105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5678" cy="110617"/>
            </a:xfrm>
            <a:custGeom>
              <a:avLst/>
              <a:gdLst/>
              <a:ahLst/>
              <a:cxnLst/>
              <a:rect r="r" b="b" t="t" l="l"/>
              <a:pathLst>
                <a:path h="110617" w="1995678">
                  <a:moveTo>
                    <a:pt x="0" y="0"/>
                  </a:moveTo>
                  <a:lnTo>
                    <a:pt x="1995678" y="0"/>
                  </a:lnTo>
                  <a:lnTo>
                    <a:pt x="1995678" y="110617"/>
                  </a:lnTo>
                  <a:lnTo>
                    <a:pt x="0" y="110617"/>
                  </a:lnTo>
                  <a:close/>
                </a:path>
              </a:pathLst>
            </a:custGeom>
            <a:solidFill>
              <a:srgbClr val="F2B531"/>
            </a:solidFill>
            <a:ln w="14299" cap="sq">
              <a:solidFill>
                <a:srgbClr val="F2B531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6769410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1BED7"/>
                </a:solidFill>
                <a:latin typeface="Aptos Bold"/>
                <a:ea typeface="Aptos Bold"/>
                <a:cs typeface="Aptos Bold"/>
                <a:sym typeface="Aptos Bold"/>
              </a:rPr>
              <a:t>17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9391" y="2379259"/>
            <a:ext cx="15671482" cy="581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 El problema es contextual, jerárquico y fuertemente desbalanceado.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 Los nulos de Misconception son estructurales y deben conservarse.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 32 de 35 errores están ligados a una sola pregunta: la validación por grupos es obligatoria.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 TF–IDF/SVM será la línea base; DeBERTa/BERT, el modelo principal.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•  No se reportan resultados de entrenamiento: la selección aún es preliminar.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00798" y="8366150"/>
            <a:ext cx="15868669" cy="892807"/>
            <a:chOff x="0" y="0"/>
            <a:chExt cx="21158225" cy="11904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158200" cy="1190371"/>
            </a:xfrm>
            <a:custGeom>
              <a:avLst/>
              <a:gdLst/>
              <a:ahLst/>
              <a:cxnLst/>
              <a:rect r="r" b="b" t="t" l="l"/>
              <a:pathLst>
                <a:path h="1190371" w="21158200">
                  <a:moveTo>
                    <a:pt x="0" y="198374"/>
                  </a:moveTo>
                  <a:cubicBezTo>
                    <a:pt x="0" y="88773"/>
                    <a:pt x="88773" y="0"/>
                    <a:pt x="198374" y="0"/>
                  </a:cubicBezTo>
                  <a:lnTo>
                    <a:pt x="20959826" y="0"/>
                  </a:lnTo>
                  <a:cubicBezTo>
                    <a:pt x="21069427" y="0"/>
                    <a:pt x="21158200" y="88773"/>
                    <a:pt x="21158200" y="198374"/>
                  </a:cubicBezTo>
                  <a:lnTo>
                    <a:pt x="21158200" y="991997"/>
                  </a:lnTo>
                  <a:cubicBezTo>
                    <a:pt x="21158200" y="1101598"/>
                    <a:pt x="21069427" y="1190371"/>
                    <a:pt x="20959826" y="1190371"/>
                  </a:cubicBezTo>
                  <a:lnTo>
                    <a:pt x="198374" y="1190371"/>
                  </a:lnTo>
                  <a:cubicBezTo>
                    <a:pt x="88773" y="1190371"/>
                    <a:pt x="0" y="1101598"/>
                    <a:pt x="0" y="991997"/>
                  </a:cubicBezTo>
                  <a:close/>
                </a:path>
              </a:pathLst>
            </a:custGeom>
            <a:solidFill>
              <a:srgbClr val="0D3053"/>
            </a:solidFill>
            <a:ln w="14299" cap="sq">
              <a:solidFill>
                <a:srgbClr val="0D3053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3794497" y="8638651"/>
            <a:ext cx="1066755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F2B531"/>
                </a:solidFill>
                <a:latin typeface="Aptos Bold"/>
                <a:ea typeface="Aptos Bold"/>
                <a:cs typeface="Aptos Bold"/>
                <a:sym typeface="Aptos Bold"/>
              </a:rPr>
              <a:t>Siguiente paso: entrenar → comparar Transformer → calibrar top-3 → auditar errores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53" y="-7153"/>
            <a:ext cx="18316137" cy="10309346"/>
            <a:chOff x="0" y="0"/>
            <a:chExt cx="24421516" cy="137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1464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24421464">
                  <a:moveTo>
                    <a:pt x="0" y="0"/>
                  </a:moveTo>
                  <a:lnTo>
                    <a:pt x="24421464" y="0"/>
                  </a:lnTo>
                  <a:lnTo>
                    <a:pt x="24421464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7153" y="-7153"/>
            <a:ext cx="261376" cy="10309346"/>
            <a:chOff x="0" y="0"/>
            <a:chExt cx="348501" cy="137457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8488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348488">
                  <a:moveTo>
                    <a:pt x="0" y="0"/>
                  </a:moveTo>
                  <a:lnTo>
                    <a:pt x="348488" y="0"/>
                  </a:lnTo>
                  <a:lnTo>
                    <a:pt x="348488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42499" y="430073"/>
            <a:ext cx="11484835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134A9A"/>
                </a:solidFill>
                <a:latin typeface="Aptos Bold"/>
                <a:ea typeface="Aptos Bold"/>
                <a:cs typeface="Aptos Bold"/>
                <a:sym typeface="Aptos Bold"/>
              </a:rPr>
              <a:t>CIERRE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2499" y="906304"/>
            <a:ext cx="16151924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Referencias y preguntas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43905" y="1873415"/>
            <a:ext cx="1496787" cy="82934"/>
            <a:chOff x="0" y="0"/>
            <a:chExt cx="1995716" cy="1105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5678" cy="110617"/>
            </a:xfrm>
            <a:custGeom>
              <a:avLst/>
              <a:gdLst/>
              <a:ahLst/>
              <a:cxnLst/>
              <a:rect r="r" b="b" t="t" l="l"/>
              <a:pathLst>
                <a:path h="110617" w="1995678">
                  <a:moveTo>
                    <a:pt x="0" y="0"/>
                  </a:moveTo>
                  <a:lnTo>
                    <a:pt x="1995678" y="0"/>
                  </a:lnTo>
                  <a:lnTo>
                    <a:pt x="1995678" y="110617"/>
                  </a:lnTo>
                  <a:lnTo>
                    <a:pt x="0" y="110617"/>
                  </a:lnTo>
                  <a:close/>
                </a:path>
              </a:pathLst>
            </a:custGeom>
            <a:solidFill>
              <a:srgbClr val="F2B531"/>
            </a:solidFill>
            <a:ln w="14299" cap="sq">
              <a:solidFill>
                <a:srgbClr val="F2B531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6769410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8687C"/>
                </a:solidFill>
                <a:latin typeface="Aptos Bold"/>
                <a:ea typeface="Aptos Bold"/>
                <a:cs typeface="Aptos Bold"/>
                <a:sym typeface="Aptos Bold"/>
              </a:rPr>
              <a:t>18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316970" y="2223726"/>
            <a:ext cx="2361000" cy="2361000"/>
            <a:chOff x="0" y="0"/>
            <a:chExt cx="3148000" cy="3148000"/>
          </a:xfrm>
        </p:grpSpPr>
        <p:sp>
          <p:nvSpPr>
            <p:cNvPr name="Freeform 12" id="12" descr="repo_qr.png"/>
            <p:cNvSpPr/>
            <p:nvPr/>
          </p:nvSpPr>
          <p:spPr>
            <a:xfrm flipH="false" flipV="false" rot="0">
              <a:off x="0" y="0"/>
              <a:ext cx="3147949" cy="3147949"/>
            </a:xfrm>
            <a:custGeom>
              <a:avLst/>
              <a:gdLst/>
              <a:ahLst/>
              <a:cxnLst/>
              <a:rect r="r" b="b" t="t" l="l"/>
              <a:pathLst>
                <a:path h="3147949" w="3147949">
                  <a:moveTo>
                    <a:pt x="0" y="0"/>
                  </a:moveTo>
                  <a:lnTo>
                    <a:pt x="3147949" y="0"/>
                  </a:lnTo>
                  <a:lnTo>
                    <a:pt x="3147949" y="3147949"/>
                  </a:lnTo>
                  <a:lnTo>
                    <a:pt x="0" y="3147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" b="-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065244" y="4740259"/>
            <a:ext cx="2864453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34A9A"/>
                </a:solidFill>
                <a:latin typeface="Aptos Bold"/>
                <a:ea typeface="Aptos Bold"/>
                <a:cs typeface="Aptos Bold"/>
                <a:sym typeface="Aptos Bold"/>
              </a:rPr>
              <a:t>Repositorio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4861" y="2214543"/>
            <a:ext cx="12033904" cy="43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Referencias APA 7 (selección)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4861" y="2818514"/>
            <a:ext cx="12061355" cy="413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27764" indent="-213882" lvl="1">
              <a:lnSpc>
                <a:spcPts val="2377"/>
              </a:lnSpc>
              <a:buFont typeface="Arial"/>
              <a:buChar char="•"/>
            </a:pPr>
            <a:r>
              <a:rPr lang="en-US" sz="198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Bonthu, S., Sree, S. R., &amp; Krishna Prasad, M. H. M. (2024). Framework for automation of short answer grading based on domain-specific pre-training. Engineering Applications of Artificial Intelligence, 137, 109163. https://doi.org/10.1016/j.engappai.2024.109163</a:t>
            </a:r>
          </a:p>
          <a:p>
            <a:pPr algn="just">
              <a:lnSpc>
                <a:spcPts val="2377"/>
              </a:lnSpc>
            </a:pPr>
          </a:p>
          <a:p>
            <a:pPr algn="just" marL="427764" indent="-213882" lvl="1">
              <a:lnSpc>
                <a:spcPts val="2377"/>
              </a:lnSpc>
              <a:buFont typeface="Arial"/>
              <a:buChar char="•"/>
            </a:pPr>
            <a:r>
              <a:rPr lang="en-US" sz="198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Burrows, S., Gurevych, I., &amp; Stein, B. (2015). The eras and trends of automatic short answer grading. International Journal of Artificial Intelligence in Education, 25(1), 60–117. https://doi.org/10.1007/s40593-014-0026-8</a:t>
            </a:r>
          </a:p>
          <a:p>
            <a:pPr algn="just">
              <a:lnSpc>
                <a:spcPts val="2377"/>
              </a:lnSpc>
            </a:pPr>
          </a:p>
          <a:p>
            <a:pPr algn="just" marL="427764" indent="-213882" lvl="1">
              <a:lnSpc>
                <a:spcPts val="2377"/>
              </a:lnSpc>
              <a:buFont typeface="Arial"/>
              <a:buChar char="•"/>
            </a:pPr>
            <a:r>
              <a:rPr lang="en-US" sz="198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Otero, N., Druga, S., &amp; Lan, A. (2025). A benchmark for math misconceptions: Bridging gaps in middle school algebra with AI-supported instruction. Discover Education, 4, 277. https://doi.org/10.1007/s44217-025-00742-w</a:t>
            </a:r>
          </a:p>
          <a:p>
            <a:pPr algn="just">
              <a:lnSpc>
                <a:spcPts val="2377"/>
              </a:lnSpc>
            </a:pPr>
          </a:p>
          <a:p>
            <a:pPr algn="just" marL="427764" indent="-213882" lvl="1">
              <a:lnSpc>
                <a:spcPts val="2377"/>
              </a:lnSpc>
              <a:buFont typeface="Arial"/>
              <a:buChar char="•"/>
            </a:pPr>
            <a:r>
              <a:rPr lang="en-US" sz="198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Zhu, X., Wu, H., &amp; Zhang, L. (2022). Automatic short-answer grading via BERT-based deep neural networks. IEEE Transactions on Learning Technologies, 15(3), 364–375. https://doi.org/10.1109/TLT.2022.3175537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33812" y="6204814"/>
            <a:ext cx="3962590" cy="750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3"/>
              </a:lnSpc>
            </a:pPr>
            <a:r>
              <a:rPr lang="en-US" sz="4053" b="true">
                <a:solidFill>
                  <a:srgbClr val="081B34"/>
                </a:solidFill>
                <a:latin typeface="Aptos Bold"/>
                <a:ea typeface="Aptos Bold"/>
                <a:cs typeface="Aptos Bold"/>
                <a:sym typeface="Aptos Bold"/>
              </a:rPr>
              <a:t>¿Preguntas?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88719" y="7317259"/>
            <a:ext cx="4017502" cy="1034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58687C"/>
                </a:solidFill>
                <a:latin typeface="Aptos"/>
                <a:ea typeface="Aptos"/>
                <a:cs typeface="Aptos"/>
                <a:sym typeface="Aptos"/>
              </a:rPr>
              <a:t>Análisis y código disponibles en el repositorio del proyecto.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004A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153" y="-7153"/>
            <a:ext cx="18316137" cy="10309346"/>
            <a:chOff x="0" y="0"/>
            <a:chExt cx="24421516" cy="137457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1464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24421464">
                  <a:moveTo>
                    <a:pt x="0" y="0"/>
                  </a:moveTo>
                  <a:lnTo>
                    <a:pt x="24421464" y="0"/>
                  </a:lnTo>
                  <a:lnTo>
                    <a:pt x="24421464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081B34"/>
            </a:solidFill>
            <a:ln w="14299" cap="sq">
              <a:solidFill>
                <a:srgbClr val="081B34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2312014" y="3946112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 GRACIAS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12014" y="2471164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A1BED7"/>
                </a:solidFill>
                <a:latin typeface="Raleway"/>
                <a:ea typeface="Raleway"/>
                <a:cs typeface="Raleway"/>
                <a:sym typeface="Raleway"/>
              </a:rPr>
              <a:t>¡MUCHAS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12014" y="6269859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A1BED7"/>
                </a:solidFill>
                <a:latin typeface="Raleway"/>
                <a:ea typeface="Raleway"/>
                <a:cs typeface="Raleway"/>
                <a:sym typeface="Raleway"/>
              </a:rPr>
              <a:t>POR SU ATENCIÓN!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7153" y="-7153"/>
            <a:ext cx="261376" cy="10309346"/>
            <a:chOff x="0" y="0"/>
            <a:chExt cx="348501" cy="137457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8488" cy="13745845"/>
            </a:xfrm>
            <a:custGeom>
              <a:avLst/>
              <a:gdLst/>
              <a:ahLst/>
              <a:cxnLst/>
              <a:rect r="r" b="b" t="t" l="l"/>
              <a:pathLst>
                <a:path h="13745845" w="348488">
                  <a:moveTo>
                    <a:pt x="0" y="0"/>
                  </a:moveTo>
                  <a:lnTo>
                    <a:pt x="348488" y="0"/>
                  </a:lnTo>
                  <a:lnTo>
                    <a:pt x="348488" y="13745845"/>
                  </a:lnTo>
                  <a:lnTo>
                    <a:pt x="0" y="13745845"/>
                  </a:lnTo>
                  <a:close/>
                </a:path>
              </a:pathLst>
            </a:custGeom>
            <a:solidFill>
              <a:srgbClr val="00A6E0"/>
            </a:solidFill>
            <a:ln w="14299" cap="sq">
              <a:solidFill>
                <a:srgbClr val="00A6E0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6769410" y="9699812"/>
            <a:ext cx="57209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1BED7"/>
                </a:solidFill>
                <a:latin typeface="Aptos Bold"/>
                <a:ea typeface="Aptos Bold"/>
                <a:cs typeface="Aptos Bold"/>
                <a:sym typeface="Aptos Bold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DAHXv0wWJTY</dc:identifier>
  <dcterms:modified xsi:type="dcterms:W3CDTF">2011-08-01T06:04:30Z</dcterms:modified>
  <cp:revision>1</cp:revision>
  <dc:title>MAP — Revisión bibliográfica y resultados EDA_Grupo 1_Data Science_ Sección 10</dc:title>
</cp:coreProperties>
</file>