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E"/>
          </a:solidFill>
          <a:ln>
            <a:solidFill>
              <a:srgbClr val="07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548640"/>
            <a:ext cx="1097280" cy="54864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475488"/>
            <a:ext cx="868680" cy="786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79552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AEEF"/>
                </a:solidFill>
                <a:latin typeface="Aptos"/>
              </a:defRPr>
            </a:pPr>
            <a:r>
              <a:t>ANÁLISIS EXPLORATORIO · PROYECTO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34440"/>
            <a:ext cx="9875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Charting Student Math</a:t>
            </a:r>
            <a:br/>
            <a:r>
              <a:t>Misunderstandings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761488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6D9ED"/>
                </a:solidFill>
                <a:latin typeface="Aptos"/>
              </a:defRPr>
            </a:pPr>
            <a:r>
              <a:t>Procesamiento del lenguaje natural para identificar patrones de razonamiento matemático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794760"/>
            <a:ext cx="5349240" cy="196596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3794760"/>
            <a:ext cx="64008" cy="196596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395935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Integrantes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4389120"/>
            <a:ext cx="4937759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Jorge Gabriel Palacios Sales</a:t>
            </a:r>
            <a:br/>
            <a:r>
              <a:t>Pablo Daniel Barillas Moreno</a:t>
            </a:r>
            <a:br/>
            <a:r>
              <a:t>Roberto Emiliano Otoniel Camposeco Torres</a:t>
            </a:r>
            <a:br/>
            <a:r>
              <a:t>Abby Sofia Donis Agreda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794760"/>
            <a:ext cx="4800600" cy="196596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794760"/>
            <a:ext cx="64008" cy="196596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95935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Curso y contexto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43891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CC3084 · Data Science</a:t>
            </a:r>
            <a:br/>
            <a:r>
              <a:t>Sección 10 · Universidad del Valle de Guatemala</a:t>
            </a:r>
            <a:br/>
            <a:r>
              <a:t>Semestre II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419088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4BBD3"/>
                </a:solidFill>
                <a:latin typeface="Aptos"/>
              </a:defRPr>
            </a:pPr>
            <a:r>
              <a:t>Fuente de datos: competencia MAP de Kaggle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SITUACIÓN PROBLEMÁTICA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Una respuesta correcta no garantiza comprensión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9344"/>
            <a:ext cx="3429000" cy="434340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09344"/>
            <a:ext cx="64008" cy="434340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El reto educativo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03704"/>
            <a:ext cx="30175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B6B7E"/>
                </a:solidFill>
                <a:latin typeface="Aptos"/>
              </a:defRPr>
            </a:pPr>
            <a:r>
              <a:t>Dos estudiantes pueden seleccionar la misma opción y justificarla con razonamientos distintos. La corrección binaria pierde la señal pedagógica contenida en el lenguaje.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09344"/>
            <a:ext cx="3429000" cy="434340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24528" y="1609344"/>
            <a:ext cx="64008" cy="434340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El reto analítico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203704"/>
            <a:ext cx="30175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B6B7E"/>
                </a:solidFill>
                <a:latin typeface="Aptos"/>
              </a:defRPr>
            </a:pPr>
            <a:r>
              <a:t>Las explicaciones son breves, desbalanceadas, dependientes de la pregunta y combinan lenguaje natural con símbolos matemáticos.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609344"/>
            <a:ext cx="3429000" cy="434340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82127" y="1609344"/>
            <a:ext cx="64008" cy="4343400"/>
          </a:xfrm>
          <a:prstGeom prst="roundRect">
            <a:avLst/>
          </a:prstGeom>
          <a:solidFill>
            <a:srgbClr val="1D966C"/>
          </a:solidFill>
          <a:ln>
            <a:solidFill>
              <a:srgbClr val="1D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17739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La oportunidad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2203704"/>
            <a:ext cx="3017520" cy="3593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B6B7E"/>
                </a:solidFill>
                <a:latin typeface="Aptos"/>
              </a:defRPr>
            </a:pPr>
            <a:r>
              <a:t>Clasificar categoría y concepción errónea permite priorizar retroalimentación y descubrir patrones sin sustituir el juicio docente.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PLANTEAMIENTO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Pregunta científica y unidad de análisis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10698480" cy="1508760"/>
          </a:xfrm>
          <a:prstGeom prst="roundRect">
            <a:avLst/>
          </a:prstGeom>
          <a:solidFill>
            <a:srgbClr val="07172E"/>
          </a:solidFill>
          <a:ln>
            <a:solidFill>
              <a:srgbClr val="07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996696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¿Qué patrones textuales y contextuales distinguen las categorías de respuesta y las concepciones erróneas en las explicaciones estudiantiles?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02152"/>
            <a:ext cx="3246120" cy="199339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502152"/>
            <a:ext cx="64008" cy="1993392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66744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Unidad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2"/>
            <a:ext cx="2834639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Una respuesta estudiantil a una pregunta de opción múltiple.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502152"/>
            <a:ext cx="3246120" cy="199339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5968" y="3502152"/>
            <a:ext cx="64008" cy="1993392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666744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096512"/>
            <a:ext cx="2834639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QuestionText + MC_Answer + StudentExplanation.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502152"/>
            <a:ext cx="3246120" cy="199339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3502152"/>
            <a:ext cx="64008" cy="1993392"/>
          </a:xfrm>
          <a:prstGeom prst="roundRect">
            <a:avLst/>
          </a:prstGeom>
          <a:solidFill>
            <a:srgbClr val="1D966C"/>
          </a:solidFill>
          <a:ln>
            <a:solidFill>
              <a:srgbClr val="1D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666744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096512"/>
            <a:ext cx="2834639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Category y, cuando aplica, Misconception.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Objetivos medibles del análisis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0972800" cy="107899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64008" cy="1078992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Objetivo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10561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Caracterizar la estructura, calidad, desbalance y señales lingüísticas del conjunto MAP para fundamentar un pipeline de clasificación reproducible.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26080"/>
            <a:ext cx="3401568" cy="256032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926080"/>
            <a:ext cx="64008" cy="256032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90672"/>
            <a:ext cx="2990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01 · Describir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20440"/>
            <a:ext cx="2990088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Cuantificar observaciones, variables, tipos, faltantes y duplicados.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926080"/>
            <a:ext cx="3401568" cy="256032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2926080"/>
            <a:ext cx="64008" cy="2560320"/>
          </a:xfrm>
          <a:prstGeom prst="roundRect">
            <a:avLst/>
          </a:prstGeom>
          <a:solidFill>
            <a:srgbClr val="1D966C"/>
          </a:solidFill>
          <a:ln>
            <a:solidFill>
              <a:srgbClr val="1D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090672"/>
            <a:ext cx="2990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02 · Explorar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520440"/>
            <a:ext cx="2990088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Comparar distribuciones, relaciones por pregunta y marcadores léxicos.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2926080"/>
            <a:ext cx="3401568" cy="256032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9872" y="2926080"/>
            <a:ext cx="64008" cy="256032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090672"/>
            <a:ext cx="2990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03 · Decidir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520440"/>
            <a:ext cx="2990088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Traducir los hallazgos en validación, preprocesamiento y modelos candidatos.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DESCRIPCIÓN DE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Perfil verificado de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20116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5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AEEF"/>
                </a:solidFill>
                <a:latin typeface="Aptos"/>
              </a:defRPr>
            </a:pPr>
            <a:r>
              <a:t>36,696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RESPUESTAS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572768"/>
            <a:ext cx="20116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682495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5B52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94560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PREGUNTAS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572768"/>
            <a:ext cx="20116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4" y="1682495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D966C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194560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OPCIONES ÚNICAS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68896" y="1572768"/>
            <a:ext cx="20116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1682495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F4642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2194560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MISCONCEPTIONS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1572768"/>
            <a:ext cx="20116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1682495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D47A1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194560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TARGETS COMPUESTOS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017520"/>
            <a:ext cx="5257800" cy="242316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017520"/>
            <a:ext cx="64008" cy="242316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Esquema de entrenamiento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611879"/>
            <a:ext cx="48463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row_id · QuestionId · QuestionText · MC_Answer · StudentExplanation · Category · Misconception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017520"/>
            <a:ext cx="5184648" cy="242316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64008" cy="242316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182112"/>
            <a:ext cx="47731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Integridad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11879"/>
            <a:ext cx="4773168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0 duplicados de fila completa. Existen 736 duplicados al excluir row_id y 970 textos repetidos; se controlan por grupos durante la validación.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VARIABLE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La categoría combina dos decisiones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9" name="Picture 8" descr="distribucion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10835640" cy="35844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276088"/>
            <a:ext cx="3246120" cy="749808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5276088"/>
            <a:ext cx="64008" cy="749808"/>
          </a:xfrm>
          <a:prstGeom prst="roundRect">
            <a:avLst/>
          </a:prstGeom>
          <a:solidFill>
            <a:srgbClr val="1D966C"/>
          </a:solidFill>
          <a:ln>
            <a:solidFill>
              <a:srgbClr val="1D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40679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870448"/>
            <a:ext cx="283463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B7E"/>
                </a:solidFill>
                <a:latin typeface="Aptos"/>
              </a:defRPr>
            </a:pPr>
            <a:r>
              <a:t>40.34% True_Correct.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5276088"/>
            <a:ext cx="3246120" cy="749808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4" y="5276088"/>
            <a:ext cx="64008" cy="749808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5440679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5870448"/>
            <a:ext cx="283463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B7E"/>
                </a:solidFill>
                <a:latin typeface="Aptos"/>
              </a:defRPr>
            </a:pPr>
            <a:r>
              <a:t>Tipo × Correctness.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5276088"/>
            <a:ext cx="3246120" cy="749808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65008" y="5276088"/>
            <a:ext cx="64008" cy="749808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5440679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5870448"/>
            <a:ext cx="2834639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B7E"/>
                </a:solidFill>
                <a:latin typeface="Aptos"/>
              </a:defRPr>
            </a:pPr>
            <a:r>
              <a:t>Modelado jerárquico.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LIMPIEZA Y PREPROCESAMIENTO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Los nulos son estructurales, no aleatorios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27632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F4642"/>
                </a:solidFill>
                <a:latin typeface="Aptos"/>
              </a:defRPr>
            </a:pPr>
            <a:r>
              <a:t>26,836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49424"/>
            <a:ext cx="2569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MISSING MISCONCEPTION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627632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7373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5B52E"/>
                </a:solidFill>
                <a:latin typeface="Aptos"/>
              </a:defRPr>
            </a:pPr>
            <a:r>
              <a:t>73.13%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2249424"/>
            <a:ext cx="2569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DEL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627632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73736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D966C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249424"/>
            <a:ext cx="2569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COINCIDE CON NO-MISCONCEPTION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40"/>
            <a:ext cx="5074920" cy="237744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64008" cy="237744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278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657600"/>
            <a:ext cx="466344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Conservar el nulo como estado semántico. No imputar una concepción errónea donde la categoría indica que no existe.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063240"/>
            <a:ext cx="5074920" cy="237744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063240"/>
            <a:ext cx="64008" cy="237744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2783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Preprocesamiento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57600"/>
            <a:ext cx="466344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Normalizar espacios y Unicode sin borrar números, operadores, signos o negaciones; esas marcas pueden cambiar el razonamiento.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DESBALANCE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La etiqueta compuesta presenta una cola larga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9" name="Picture 8" descr="distribucion_misconce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7726679" cy="41879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41080" y="1554480"/>
            <a:ext cx="2606040" cy="1115568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41080" y="1554480"/>
            <a:ext cx="64008" cy="1115568"/>
          </a:xfrm>
          <a:prstGeom prst="roundRect">
            <a:avLst/>
          </a:prstGeom>
          <a:solidFill>
            <a:srgbClr val="CF4642"/>
          </a:solidFill>
          <a:ln>
            <a:solidFill>
              <a:srgbClr val="CF4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71907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32 clases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488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tienen menos de 50 casos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852928"/>
            <a:ext cx="2606040" cy="1115568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852928"/>
            <a:ext cx="64008" cy="1115568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0175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24 clases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44728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tienen menos de 10 casos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151376"/>
            <a:ext cx="2606040" cy="1591056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41080" y="4151376"/>
            <a:ext cx="64008" cy="1591056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3159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Implicación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745736"/>
            <a:ext cx="219456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Usar macro F1, MAP@3, pesos y análisis por clase.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VARIABLES TEXTUALES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Explicaciones breves, pero heterogéneas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9" name="Picture 8" descr="distribuciones_variables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17904"/>
            <a:ext cx="7699248" cy="43708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31936" y="1609344"/>
            <a:ext cx="25786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9096" y="1719072"/>
            <a:ext cx="23042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AEE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2231136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MEDIANA DE PALABRAS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31936" y="2907792"/>
            <a:ext cx="25786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9096" y="3017520"/>
            <a:ext cx="23042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5B52E"/>
                </a:solidFill>
                <a:latin typeface="Aptos"/>
              </a:defRPr>
            </a:pPr>
            <a:r>
              <a:t>15.36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3" y="3529584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MEDIA DE PALABRAS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31936" y="4206240"/>
            <a:ext cx="25786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9096" y="4315968"/>
            <a:ext cx="23042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CF4642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4828031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B6B7E"/>
                </a:solidFill>
                <a:latin typeface="Aptos"/>
              </a:defRPr>
            </a:pPr>
            <a:r>
              <a:t>MÁXIMO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OUTLIERS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Los valores extremos contienen señal potencial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9" name="Picture 8" descr="longitud_por_categ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7790688" cy="40507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0" y="1572768"/>
            <a:ext cx="2514600" cy="1847088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1572768"/>
            <a:ext cx="64008" cy="1847088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37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No eliminar automáticamente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67128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Una explicación extensa puede reflejar duda, justificación detallada o copia.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675887"/>
            <a:ext cx="2514600" cy="194767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3675887"/>
            <a:ext cx="64008" cy="1947672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840479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Sí auditar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270248"/>
            <a:ext cx="2103120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Revisar casos extremos, truncamiento y robustez del tokenizador.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RELACIONES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Longitud y diversidad no significan lo mismo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correlaciones_variables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7845552" cy="36210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572768"/>
            <a:ext cx="2468880" cy="141732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572768"/>
            <a:ext cx="64008" cy="141732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Relación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167128"/>
            <a:ext cx="20574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Diversidad léxica vs. palabras: ≈ −0.59.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218688"/>
            <a:ext cx="2468880" cy="1975104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32520" y="3218688"/>
            <a:ext cx="64008" cy="1975104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38328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Lectura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813048"/>
            <a:ext cx="2057400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Las respuestas largas repiten más vocabulario; ninguna variable aislada explica la etiqueta.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CRUCES CATEGÓRICOS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El contexto de la pregunta cambia el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9" name="Picture 8" descr="cruces_por_preg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91056"/>
            <a:ext cx="8065008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42832" y="1591056"/>
            <a:ext cx="2267712" cy="126187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42832" y="1591056"/>
            <a:ext cx="64008" cy="1261872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1755648"/>
            <a:ext cx="18562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Rango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185416"/>
            <a:ext cx="1856231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35.7%–79.6% de True_Correct.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3081528"/>
            <a:ext cx="2267712" cy="1911095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42832" y="3081528"/>
            <a:ext cx="64008" cy="1911095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3246120"/>
            <a:ext cx="18562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Cuidado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675888"/>
            <a:ext cx="1856231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QuestionId ayuda en preguntas conocidas, pero el ID crudo no generaliza a nuevas.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7172E"/>
                </a:solidFill>
                <a:latin typeface="Aptos"/>
              </a:defRPr>
            </a:pPr>
            <a:r>
              <a:t>32 de 35 concepciones erróneas aparecen en una sola pregunta.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LENGUAJE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Los marcadores léxicos son señales, no explicaciones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9" name="Picture 8" descr="marcadores_lex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7726679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31936" y="1572768"/>
            <a:ext cx="2578608" cy="137160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31936" y="1572768"/>
            <a:ext cx="64008" cy="137160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0536" y="1737360"/>
            <a:ext cx="21671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Ejemplos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536" y="2167128"/>
            <a:ext cx="216712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divide · multiply · denominator · because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31936" y="3191256"/>
            <a:ext cx="2578608" cy="2313432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1936" y="3191256"/>
            <a:ext cx="64008" cy="2313432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0536" y="3355848"/>
            <a:ext cx="21671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Interpretación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3785616"/>
            <a:ext cx="2167127" cy="1563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B6B7E"/>
                </a:solidFill>
                <a:latin typeface="Aptos"/>
              </a:defRPr>
            </a:pPr>
            <a:r>
              <a:t>Su frecuencia cambia por categoría, pero debe evaluarse junto con pregunta, opción y explicación.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REVISIÓN BIBLIOGRÁFICA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De líneas base interpretables a modelos contextuales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383280" cy="406908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64008" cy="406908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1 ·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29718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TF–IDF de palabras y caracteres con regresión logística y SVM.</a:t>
            </a:r>
            <a:br/>
            <a:br/>
            <a:r>
              <a:t>Ventaja: costo bajo, transparencia y referencia fuerte para texto corto.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572768"/>
            <a:ext cx="3383280" cy="406908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8" y="1572768"/>
            <a:ext cx="64008" cy="406908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73736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2 · Modelo principal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167128"/>
            <a:ext cx="29718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BERT/DeBERTa con pregunta, opción y explicación; salida multitarea para categoría y misconception.</a:t>
            </a:r>
            <a:br/>
            <a:br/>
            <a:r>
              <a:t>Ventaja: contexto semántico.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572768"/>
            <a:ext cx="3383280" cy="406908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572768"/>
            <a:ext cx="64008" cy="4069080"/>
          </a:xfrm>
          <a:prstGeom prst="roundRect">
            <a:avLst/>
          </a:prstGeom>
          <a:solidFill>
            <a:srgbClr val="1D966C"/>
          </a:solidFill>
          <a:ln>
            <a:solidFill>
              <a:srgbClr val="1D9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73736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3 · Experimento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167128"/>
            <a:ext cx="29718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MathBERT o adaptación de dominio, ensamble calibrado y ranking top–3.</a:t>
            </a:r>
            <a:br/>
            <a:br/>
            <a:r>
              <a:t>Condición: mejora consistente y costo justificable.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SÍNTESIS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Cinco hallazgos que condicionan el modelado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72768"/>
            <a:ext cx="103784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C2A3D"/>
                </a:solidFill>
                <a:latin typeface="Aptos"/>
              </a:defRPr>
            </a:pPr>
            <a:r>
              <a:t>•  Desbalance severo: 32 de 65 targets tienen menos de 50 ejemplos.</a:t>
            </a:r>
          </a:p>
          <a:p>
            <a:pPr>
              <a:spcAft>
                <a:spcPts val="1100"/>
              </a:spcAft>
              <a:defRPr sz="2000">
                <a:solidFill>
                  <a:srgbClr val="1C2A3D"/>
                </a:solidFill>
                <a:latin typeface="Aptos"/>
              </a:defRPr>
            </a:pPr>
            <a:r>
              <a:t>•  Dependencia contextual: casi todas las misconceptions están ligadas a una pregunta.</a:t>
            </a:r>
          </a:p>
          <a:p>
            <a:pPr>
              <a:spcAft>
                <a:spcPts val="1100"/>
              </a:spcAft>
              <a:defRPr sz="2000">
                <a:solidFill>
                  <a:srgbClr val="1C2A3D"/>
                </a:solidFill>
                <a:latin typeface="Aptos"/>
              </a:defRPr>
            </a:pPr>
            <a:r>
              <a:t>•  Nulos semánticos: 73.13% de Misconception representa ausencia legítima.</a:t>
            </a:r>
          </a:p>
          <a:p>
            <a:pPr>
              <a:spcAft>
                <a:spcPts val="1100"/>
              </a:spcAft>
              <a:defRPr sz="2000">
                <a:solidFill>
                  <a:srgbClr val="1C2A3D"/>
                </a:solidFill>
                <a:latin typeface="Aptos"/>
              </a:defRPr>
            </a:pPr>
            <a:r>
              <a:t>•  Duplicación: 736 registros coinciden al excluir row_id.</a:t>
            </a:r>
          </a:p>
          <a:p>
            <a:pPr>
              <a:spcAft>
                <a:spcPts val="1100"/>
              </a:spcAft>
              <a:defRPr sz="2000">
                <a:solidFill>
                  <a:srgbClr val="1C2A3D"/>
                </a:solidFill>
                <a:latin typeface="Aptos"/>
              </a:defRPr>
            </a:pPr>
            <a:r>
              <a:t>•  Texto corto y ruidoso: mediana 13 palabras; conservar notación matemática.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DISEÑO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Dos validaciones responden preguntas distintas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5074920" cy="297180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72768"/>
            <a:ext cx="64008" cy="2971800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StratifiedKFold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663440" cy="2221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Escenario principal: rendimiento en nuevas respuestas a preguntas conocidas. Estratificar por etiqueta compuesta y agrupar duplicados.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72768"/>
            <a:ext cx="5074920" cy="2971800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572768"/>
            <a:ext cx="64008" cy="2971800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GroupKFold por QuestionId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67128"/>
            <a:ext cx="4663440" cy="2221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B6B7E"/>
                </a:solidFill>
                <a:latin typeface="Aptos"/>
              </a:defRPr>
            </a:pPr>
            <a:r>
              <a:t>Prueba de transferencia: extrapolación a preguntas no vistas. Reportarla por separado porque muchas etiquetas son específicas de pregunta.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00600"/>
            <a:ext cx="10469880" cy="804672"/>
          </a:xfrm>
          <a:prstGeom prst="roundRect">
            <a:avLst/>
          </a:prstGeom>
          <a:solidFill>
            <a:srgbClr val="07172E"/>
          </a:solidFill>
          <a:ln>
            <a:solidFill>
              <a:srgbClr val="07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92624"/>
            <a:ext cx="10012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Métricas: MAP@3 + macro F1 + desempeño por pregunta/clase + calibración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47A1"/>
                </a:solidFill>
                <a:latin typeface="Aptos"/>
              </a:defRPr>
            </a:pPr>
            <a:r>
              <a:t>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7172E"/>
                </a:solidFill>
                <a:latin typeface="Aptos"/>
              </a:defRPr>
            </a:pPr>
            <a:r>
              <a:t>Repositorio reproducible y entregables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960120" cy="45720"/>
          </a:xfrm>
          <a:prstGeom prst="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1967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B7E"/>
                </a:solidFill>
                <a:latin typeface="Aptos"/>
              </a:defRPr>
            </a:pPr>
            <a:r>
              <a:t>MAP · Análisis Exploratorio · UVG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B6B7E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9" name="Picture 8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2304288" cy="23042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4078224"/>
            <a:ext cx="2788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47A1"/>
                </a:solidFill>
                <a:latin typeface="Aptos"/>
              </a:defRPr>
            </a:pPr>
            <a:r>
              <a:t>github.com/DanielBarillasM/</a:t>
            </a:r>
            <a:br/>
            <a:r>
              <a:t>Proyecto-2_Grupo-1_DS_Sec-10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572768"/>
            <a:ext cx="3493008" cy="3977639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1572768"/>
            <a:ext cx="64008" cy="3977639"/>
          </a:xfrm>
          <a:prstGeom prst="round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737360"/>
            <a:ext cx="3081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67128"/>
            <a:ext cx="3081527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• Notebook ejecutable</a:t>
            </a:r>
            <a:br/>
            <a:r>
              <a:t>• Datos versionados localmente</a:t>
            </a:r>
            <a:br/>
            <a:r>
              <a:t>• 7 figuras persistidas</a:t>
            </a:r>
            <a:br/>
            <a:r>
              <a:t>• Informe EDA en PDF/TeX</a:t>
            </a:r>
            <a:br/>
            <a:r>
              <a:t>• Revisión bibliográfica APA</a:t>
            </a:r>
            <a:br/>
            <a:r>
              <a:t>• README y documento del repo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1572768"/>
            <a:ext cx="3493008" cy="3977639"/>
          </a:xfrm>
          <a:prstGeom prst="roundRect">
            <a:avLst/>
          </a:prstGeom>
          <a:solidFill>
            <a:srgbClr val="F0F6FC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07808" y="1572768"/>
            <a:ext cx="64008" cy="3977639"/>
          </a:xfrm>
          <a:prstGeom prst="roundRect">
            <a:avLst/>
          </a:prstGeom>
          <a:solidFill>
            <a:srgbClr val="F5B52E"/>
          </a:solidFill>
          <a:ln>
            <a:solidFill>
              <a:srgbClr val="F5B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1737360"/>
            <a:ext cx="3081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7172E"/>
                </a:solidFill>
                <a:latin typeface="Aptos"/>
              </a:defRPr>
            </a:pPr>
            <a:r>
              <a:t>Presentación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167128"/>
            <a:ext cx="3081527" cy="3227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6B7E"/>
                </a:solidFill>
                <a:latin typeface="Aptos"/>
              </a:defRPr>
            </a:pPr>
            <a:r>
              <a:t>• HTML navegable</a:t>
            </a:r>
            <a:br/>
            <a:r>
              <a:t>• PowerPoint editable</a:t>
            </a:r>
            <a:br/>
            <a:r>
              <a:t>• Rutas relativas a report/assets</a:t>
            </a:r>
            <a:br/>
            <a:r>
              <a:t>• Dependencias fijadas</a:t>
            </a:r>
            <a:br/>
            <a:r>
              <a:t>• Cifras verificadas contra train.csv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E"/>
          </a:solidFill>
          <a:ln>
            <a:solidFill>
              <a:srgbClr val="071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02920"/>
            <a:ext cx="841248" cy="768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" y="74980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AEEF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25880"/>
            <a:ext cx="9875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Comprender el error requiere</a:t>
            </a:r>
            <a:br/>
            <a:r>
              <a:t>leer el razonamiento.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9692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CDDEEF"/>
                </a:solidFill>
                <a:latin typeface="Aptos"/>
              </a:defRPr>
            </a:pPr>
            <a:r>
              <a:t>El EDA demuestra que la pregunta, la opción y la explicación deben modelarse juntas; el desbalance y la dependencia por pregunta exigen evaluación dual y resultados desagregados.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10378440" cy="868680"/>
          </a:xfrm>
          <a:prstGeom prst="roundRect">
            <a:avLst/>
          </a:prstGeom>
          <a:solidFill>
            <a:srgbClr val="0C2D50"/>
          </a:solidFill>
          <a:ln>
            <a:solidFill>
              <a:srgbClr val="0C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28032"/>
            <a:ext cx="9829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5B52E"/>
                </a:solidFill>
                <a:latin typeface="Aptos"/>
              </a:defRPr>
            </a:pPr>
            <a:r>
              <a:t>Siguiente paso: baseline TF–IDF/SVM → Transformer contextual multitarea → ensamble calibrado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362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— Charting Student Math Misunderstandings</dc:title>
  <dc:subject>Análisis exploratorio de datos</dc:subject>
  <dc:creator>Grupo 1 — CC3084 Data Science, UVG</dc:creator>
  <cp:keywords>MAP, NLP, educación, matemáticas, EDA, UVG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